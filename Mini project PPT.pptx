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handoutMasterIdLst>
    <p:handoutMasterId r:id="rId20"/>
  </p:handoutMasterIdLst>
  <p:sldIdLst>
    <p:sldId id="256" r:id="rId2"/>
    <p:sldId id="259" r:id="rId3"/>
    <p:sldId id="327" r:id="rId4"/>
    <p:sldId id="333" r:id="rId5"/>
    <p:sldId id="350" r:id="rId6"/>
    <p:sldId id="351" r:id="rId7"/>
    <p:sldId id="328" r:id="rId8"/>
    <p:sldId id="329" r:id="rId9"/>
    <p:sldId id="335" r:id="rId10"/>
    <p:sldId id="330" r:id="rId11"/>
    <p:sldId id="345" r:id="rId12"/>
    <p:sldId id="354" r:id="rId13"/>
    <p:sldId id="346" r:id="rId14"/>
    <p:sldId id="353" r:id="rId15"/>
    <p:sldId id="352" r:id="rId16"/>
    <p:sldId id="349" r:id="rId17"/>
    <p:sldId id="326" r:id="rId1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53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p:cViewPr varScale="1">
        <p:scale>
          <a:sx n="90" d="100"/>
          <a:sy n="90" d="100"/>
        </p:scale>
        <p:origin x="1258"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la rishitha" userId="fd75b01581ed9f22" providerId="LiveId" clId="{531D8294-2CA7-4327-9662-02C992B8C633}"/>
    <pc:docChg chg="modSld">
      <pc:chgData name="pola rishitha" userId="fd75b01581ed9f22" providerId="LiveId" clId="{531D8294-2CA7-4327-9662-02C992B8C633}" dt="2026-06-06T14:05:17.190" v="4" actId="14100"/>
      <pc:docMkLst>
        <pc:docMk/>
      </pc:docMkLst>
      <pc:sldChg chg="addSp modSp mod">
        <pc:chgData name="pola rishitha" userId="fd75b01581ed9f22" providerId="LiveId" clId="{531D8294-2CA7-4327-9662-02C992B8C633}" dt="2026-06-06T14:05:17.190" v="4" actId="14100"/>
        <pc:sldMkLst>
          <pc:docMk/>
          <pc:sldMk cId="2395761429" sldId="352"/>
        </pc:sldMkLst>
        <pc:picChg chg="add mod">
          <ac:chgData name="pola rishitha" userId="fd75b01581ed9f22" providerId="LiveId" clId="{531D8294-2CA7-4327-9662-02C992B8C633}" dt="2026-06-06T14:05:17.190" v="4" actId="14100"/>
          <ac:picMkLst>
            <pc:docMk/>
            <pc:sldMk cId="2395761429" sldId="352"/>
            <ac:picMk id="6" creationId="{25B06632-0586-A178-D262-20856ED468E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49C0CB-3077-4A2C-A263-34908B18F16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F70FDBD4-CECE-4489-86D6-D12748BF1922}"/>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18AD1CAA-8E5C-49F6-8938-72360B2BE9BA}" type="datetimeFigureOut">
              <a:rPr lang="en-US"/>
              <a:pPr>
                <a:defRPr/>
              </a:pPr>
              <a:t>6/6/2026</a:t>
            </a:fld>
            <a:endParaRPr lang="en-US"/>
          </a:p>
        </p:txBody>
      </p:sp>
      <p:sp>
        <p:nvSpPr>
          <p:cNvPr id="4" name="Footer Placeholder 3">
            <a:extLst>
              <a:ext uri="{FF2B5EF4-FFF2-40B4-BE49-F238E27FC236}">
                <a16:creationId xmlns:a16="http://schemas.microsoft.com/office/drawing/2014/main" id="{EBAF0860-EA4C-470F-953E-A330E0ABA9D4}"/>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46CD5A3C-3604-4181-BB10-EF1F20AB415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E5D8934D-CC79-41E4-84A0-8E210C28D030}"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1F8ED2-BED6-42C2-80BF-D0DDEF1BB6B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2E0A5090-DDE5-4846-93BE-A1655C2571B9}"/>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94D85942-DFC5-4B20-B5C9-CCE8F5D93199}" type="datetimeFigureOut">
              <a:rPr lang="en-US"/>
              <a:pPr>
                <a:defRPr/>
              </a:pPr>
              <a:t>6/6/2026</a:t>
            </a:fld>
            <a:endParaRPr lang="en-US"/>
          </a:p>
        </p:txBody>
      </p:sp>
      <p:sp>
        <p:nvSpPr>
          <p:cNvPr id="4" name="Slide Image Placeholder 3">
            <a:extLst>
              <a:ext uri="{FF2B5EF4-FFF2-40B4-BE49-F238E27FC236}">
                <a16:creationId xmlns:a16="http://schemas.microsoft.com/office/drawing/2014/main" id="{B4DCBBA6-3CFE-454C-915B-2F557CCB50C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FA9522D-261C-456E-9909-C0D312DD7BC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668F42A2-8DE7-4D71-92CA-346712661AC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45F32067-15CE-4CFC-88B9-89B3A0F219E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A6A9F5FE-36A4-49E1-AC13-A222A2289585}"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7840EE95-7363-4926-B290-3A8210046C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63985331-A8BE-46A9-BEEC-B969CF2C8C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4340" name="Slide Number Placeholder 3">
            <a:extLst>
              <a:ext uri="{FF2B5EF4-FFF2-40B4-BE49-F238E27FC236}">
                <a16:creationId xmlns:a16="http://schemas.microsoft.com/office/drawing/2014/main" id="{464F66CD-1804-40B2-A3A3-A8D525DB9A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AE71682-A2E8-46DE-A7B3-20F0B3AD6C26}" type="slidenum">
              <a:rPr lang="en-US" altLang="en-US"/>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4</a:t>
            </a:fld>
            <a:endParaRPr lang="en-US" altLang="en-US"/>
          </a:p>
        </p:txBody>
      </p:sp>
    </p:spTree>
    <p:extLst>
      <p:ext uri="{BB962C8B-B14F-4D97-AF65-F5344CB8AC3E}">
        <p14:creationId xmlns:p14="http://schemas.microsoft.com/office/powerpoint/2010/main" val="3555533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5</a:t>
            </a:fld>
            <a:endParaRPr lang="en-US" altLang="en-US"/>
          </a:p>
        </p:txBody>
      </p:sp>
    </p:spTree>
    <p:extLst>
      <p:ext uri="{BB962C8B-B14F-4D97-AF65-F5344CB8AC3E}">
        <p14:creationId xmlns:p14="http://schemas.microsoft.com/office/powerpoint/2010/main" val="2229678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6</a:t>
            </a:fld>
            <a:endParaRPr lang="en-US" altLang="en-US"/>
          </a:p>
        </p:txBody>
      </p:sp>
    </p:spTree>
    <p:extLst>
      <p:ext uri="{BB962C8B-B14F-4D97-AF65-F5344CB8AC3E}">
        <p14:creationId xmlns:p14="http://schemas.microsoft.com/office/powerpoint/2010/main" val="610534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4780920D-B6AE-44B7-A614-3E19FD85E578}"/>
              </a:ext>
            </a:extLst>
          </p:cNvPr>
          <p:cNvSpPr>
            <a:spLocks noGrp="1"/>
          </p:cNvSpPr>
          <p:nvPr>
            <p:ph type="dt" sz="half" idx="10"/>
          </p:nvPr>
        </p:nvSpPr>
        <p:spPr/>
        <p:txBody>
          <a:bodyPr/>
          <a:lstStyle>
            <a:lvl1pPr>
              <a:defRPr/>
            </a:lvl1pPr>
          </a:lstStyle>
          <a:p>
            <a:pPr>
              <a:defRPr/>
            </a:pPr>
            <a:fld id="{2685013B-3371-48FC-9407-F92BD42A5CA9}" type="datetime1">
              <a:rPr lang="en-US"/>
              <a:pPr>
                <a:defRPr/>
              </a:pPr>
              <a:t>6/6/2026</a:t>
            </a:fld>
            <a:endParaRPr lang="en-US"/>
          </a:p>
        </p:txBody>
      </p:sp>
      <p:sp>
        <p:nvSpPr>
          <p:cNvPr id="5" name="Footer Placeholder 4">
            <a:extLst>
              <a:ext uri="{FF2B5EF4-FFF2-40B4-BE49-F238E27FC236}">
                <a16:creationId xmlns:a16="http://schemas.microsoft.com/office/drawing/2014/main" id="{E3FADB77-829A-477C-9C0C-151A5096E0BA}"/>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5539F79D-D26C-4B9A-9720-48C3725EFBFE}"/>
              </a:ext>
            </a:extLst>
          </p:cNvPr>
          <p:cNvSpPr>
            <a:spLocks noGrp="1"/>
          </p:cNvSpPr>
          <p:nvPr>
            <p:ph type="sldNum" sz="quarter" idx="12"/>
          </p:nvPr>
        </p:nvSpPr>
        <p:spPr/>
        <p:txBody>
          <a:bodyPr/>
          <a:lstStyle>
            <a:lvl1pPr>
              <a:defRPr/>
            </a:lvl1pPr>
          </a:lstStyle>
          <a:p>
            <a:fld id="{381673AE-CDED-468E-9E60-13F9774D8EF6}" type="slidenum">
              <a:rPr lang="en-US" altLang="en-US"/>
              <a:pPr/>
              <a:t>‹#›</a:t>
            </a:fld>
            <a:endParaRPr lang="en-US" altLang="en-US"/>
          </a:p>
        </p:txBody>
      </p:sp>
    </p:spTree>
    <p:extLst>
      <p:ext uri="{BB962C8B-B14F-4D97-AF65-F5344CB8AC3E}">
        <p14:creationId xmlns:p14="http://schemas.microsoft.com/office/powerpoint/2010/main" val="1212531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9E68E3-5E88-4FA2-8C26-450DBAD826DA}"/>
              </a:ext>
            </a:extLst>
          </p:cNvPr>
          <p:cNvSpPr>
            <a:spLocks noGrp="1"/>
          </p:cNvSpPr>
          <p:nvPr>
            <p:ph type="dt" sz="half" idx="10"/>
          </p:nvPr>
        </p:nvSpPr>
        <p:spPr/>
        <p:txBody>
          <a:bodyPr/>
          <a:lstStyle>
            <a:lvl1pPr>
              <a:defRPr/>
            </a:lvl1pPr>
          </a:lstStyle>
          <a:p>
            <a:pPr>
              <a:defRPr/>
            </a:pPr>
            <a:fld id="{BDE8CA06-C0FA-4A35-B9BF-5CBFE5CB9336}" type="datetime1">
              <a:rPr lang="en-US"/>
              <a:pPr>
                <a:defRPr/>
              </a:pPr>
              <a:t>6/6/2026</a:t>
            </a:fld>
            <a:endParaRPr lang="en-US"/>
          </a:p>
        </p:txBody>
      </p:sp>
      <p:sp>
        <p:nvSpPr>
          <p:cNvPr id="5" name="Footer Placeholder 4">
            <a:extLst>
              <a:ext uri="{FF2B5EF4-FFF2-40B4-BE49-F238E27FC236}">
                <a16:creationId xmlns:a16="http://schemas.microsoft.com/office/drawing/2014/main" id="{B6E4CD55-6E4A-4A63-98EF-FA743743FE7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B50F5683-DEE8-45FB-8DAD-B25D6E885B1A}"/>
              </a:ext>
            </a:extLst>
          </p:cNvPr>
          <p:cNvSpPr>
            <a:spLocks noGrp="1"/>
          </p:cNvSpPr>
          <p:nvPr>
            <p:ph type="sldNum" sz="quarter" idx="12"/>
          </p:nvPr>
        </p:nvSpPr>
        <p:spPr/>
        <p:txBody>
          <a:bodyPr/>
          <a:lstStyle>
            <a:lvl1pPr>
              <a:defRPr/>
            </a:lvl1pPr>
          </a:lstStyle>
          <a:p>
            <a:fld id="{E021BEF2-95F5-417E-9097-980329164CCD}" type="slidenum">
              <a:rPr lang="en-US" altLang="en-US"/>
              <a:pPr/>
              <a:t>‹#›</a:t>
            </a:fld>
            <a:endParaRPr lang="en-US" altLang="en-US"/>
          </a:p>
        </p:txBody>
      </p:sp>
    </p:spTree>
    <p:extLst>
      <p:ext uri="{BB962C8B-B14F-4D97-AF65-F5344CB8AC3E}">
        <p14:creationId xmlns:p14="http://schemas.microsoft.com/office/powerpoint/2010/main" val="3173740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40D9E7-0515-400A-86E2-F96F6242C88C}"/>
              </a:ext>
            </a:extLst>
          </p:cNvPr>
          <p:cNvSpPr>
            <a:spLocks noGrp="1"/>
          </p:cNvSpPr>
          <p:nvPr>
            <p:ph type="dt" sz="half" idx="10"/>
          </p:nvPr>
        </p:nvSpPr>
        <p:spPr/>
        <p:txBody>
          <a:bodyPr/>
          <a:lstStyle>
            <a:lvl1pPr>
              <a:defRPr/>
            </a:lvl1pPr>
          </a:lstStyle>
          <a:p>
            <a:pPr>
              <a:defRPr/>
            </a:pPr>
            <a:fld id="{EDBE9779-8E71-4A34-ACDD-8BB13DEE2332}" type="datetime1">
              <a:rPr lang="en-US"/>
              <a:pPr>
                <a:defRPr/>
              </a:pPr>
              <a:t>6/6/2026</a:t>
            </a:fld>
            <a:endParaRPr lang="en-US"/>
          </a:p>
        </p:txBody>
      </p:sp>
      <p:sp>
        <p:nvSpPr>
          <p:cNvPr id="5" name="Footer Placeholder 4">
            <a:extLst>
              <a:ext uri="{FF2B5EF4-FFF2-40B4-BE49-F238E27FC236}">
                <a16:creationId xmlns:a16="http://schemas.microsoft.com/office/drawing/2014/main" id="{1ECE256D-C27A-4160-9DB1-FF5E7864C41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176E034D-8222-48D3-89D9-7CEBFB7D4DA3}"/>
              </a:ext>
            </a:extLst>
          </p:cNvPr>
          <p:cNvSpPr>
            <a:spLocks noGrp="1"/>
          </p:cNvSpPr>
          <p:nvPr>
            <p:ph type="sldNum" sz="quarter" idx="12"/>
          </p:nvPr>
        </p:nvSpPr>
        <p:spPr/>
        <p:txBody>
          <a:bodyPr/>
          <a:lstStyle>
            <a:lvl1pPr>
              <a:defRPr/>
            </a:lvl1pPr>
          </a:lstStyle>
          <a:p>
            <a:fld id="{B887B5C6-F485-457A-88E2-FF928EC41EA4}" type="slidenum">
              <a:rPr lang="en-US" altLang="en-US"/>
              <a:pPr/>
              <a:t>‹#›</a:t>
            </a:fld>
            <a:endParaRPr lang="en-US" altLang="en-US"/>
          </a:p>
        </p:txBody>
      </p:sp>
    </p:spTree>
    <p:extLst>
      <p:ext uri="{BB962C8B-B14F-4D97-AF65-F5344CB8AC3E}">
        <p14:creationId xmlns:p14="http://schemas.microsoft.com/office/powerpoint/2010/main" val="1145745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62788E1-6A09-47B5-BC67-57CE1B8E32B4}"/>
              </a:ext>
            </a:extLst>
          </p:cNvPr>
          <p:cNvSpPr>
            <a:spLocks noGrp="1"/>
          </p:cNvSpPr>
          <p:nvPr>
            <p:ph type="dt" sz="half" idx="10"/>
          </p:nvPr>
        </p:nvSpPr>
        <p:spPr/>
        <p:txBody>
          <a:bodyPr/>
          <a:lstStyle>
            <a:lvl1pPr>
              <a:defRPr/>
            </a:lvl1pPr>
          </a:lstStyle>
          <a:p>
            <a:pPr>
              <a:defRPr/>
            </a:pPr>
            <a:fld id="{0C4B0931-B853-4338-857D-EC51455FBAEA}" type="datetime1">
              <a:rPr lang="en-US"/>
              <a:pPr>
                <a:defRPr/>
              </a:pPr>
              <a:t>6/6/2026</a:t>
            </a:fld>
            <a:endParaRPr lang="en-US"/>
          </a:p>
        </p:txBody>
      </p:sp>
      <p:sp>
        <p:nvSpPr>
          <p:cNvPr id="6" name="Footer Placeholder 4">
            <a:extLst>
              <a:ext uri="{FF2B5EF4-FFF2-40B4-BE49-F238E27FC236}">
                <a16:creationId xmlns:a16="http://schemas.microsoft.com/office/drawing/2014/main" id="{56718E1B-2187-4A00-8130-FF0CCF1858D1}"/>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B829CFF-BC30-4A03-9C08-2E85922F62BF}"/>
              </a:ext>
            </a:extLst>
          </p:cNvPr>
          <p:cNvSpPr>
            <a:spLocks noGrp="1"/>
          </p:cNvSpPr>
          <p:nvPr>
            <p:ph type="sldNum" sz="quarter" idx="12"/>
          </p:nvPr>
        </p:nvSpPr>
        <p:spPr/>
        <p:txBody>
          <a:bodyPr/>
          <a:lstStyle>
            <a:lvl1pPr>
              <a:defRPr/>
            </a:lvl1pPr>
          </a:lstStyle>
          <a:p>
            <a:fld id="{6430785C-3C3F-4D72-B6E5-E6D38F555861}" type="slidenum">
              <a:rPr lang="en-US" altLang="en-US"/>
              <a:pPr/>
              <a:t>‹#›</a:t>
            </a:fld>
            <a:endParaRPr lang="en-US" altLang="en-US"/>
          </a:p>
        </p:txBody>
      </p:sp>
    </p:spTree>
    <p:extLst>
      <p:ext uri="{BB962C8B-B14F-4D97-AF65-F5344CB8AC3E}">
        <p14:creationId xmlns:p14="http://schemas.microsoft.com/office/powerpoint/2010/main" val="2903186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A1461F9-281D-4D2B-9EF4-0961D9F5ACAD}"/>
              </a:ext>
            </a:extLst>
          </p:cNvPr>
          <p:cNvSpPr>
            <a:spLocks noGrp="1"/>
          </p:cNvSpPr>
          <p:nvPr>
            <p:ph type="dt" sz="half" idx="10"/>
          </p:nvPr>
        </p:nvSpPr>
        <p:spPr/>
        <p:txBody>
          <a:bodyPr/>
          <a:lstStyle>
            <a:lvl1pPr>
              <a:defRPr/>
            </a:lvl1pPr>
          </a:lstStyle>
          <a:p>
            <a:pPr>
              <a:defRPr/>
            </a:pPr>
            <a:fld id="{D9F35988-ABC1-47B4-8337-180F809C6E04}" type="datetime1">
              <a:rPr lang="en-US"/>
              <a:pPr>
                <a:defRPr/>
              </a:pPr>
              <a:t>6/6/2026</a:t>
            </a:fld>
            <a:endParaRPr lang="en-US"/>
          </a:p>
        </p:txBody>
      </p:sp>
      <p:sp>
        <p:nvSpPr>
          <p:cNvPr id="8" name="Footer Placeholder 4">
            <a:extLst>
              <a:ext uri="{FF2B5EF4-FFF2-40B4-BE49-F238E27FC236}">
                <a16:creationId xmlns:a16="http://schemas.microsoft.com/office/drawing/2014/main" id="{32E3E607-E774-4F71-ACBB-FE851B9432E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9" name="Slide Number Placeholder 5">
            <a:extLst>
              <a:ext uri="{FF2B5EF4-FFF2-40B4-BE49-F238E27FC236}">
                <a16:creationId xmlns:a16="http://schemas.microsoft.com/office/drawing/2014/main" id="{E4CFFD8A-7C08-446F-B45D-132D79B6B82E}"/>
              </a:ext>
            </a:extLst>
          </p:cNvPr>
          <p:cNvSpPr>
            <a:spLocks noGrp="1"/>
          </p:cNvSpPr>
          <p:nvPr>
            <p:ph type="sldNum" sz="quarter" idx="12"/>
          </p:nvPr>
        </p:nvSpPr>
        <p:spPr/>
        <p:txBody>
          <a:bodyPr/>
          <a:lstStyle>
            <a:lvl1pPr>
              <a:defRPr/>
            </a:lvl1pPr>
          </a:lstStyle>
          <a:p>
            <a:fld id="{B998D808-031B-4F6F-A439-4ABFE2BF389D}" type="slidenum">
              <a:rPr lang="en-US" altLang="en-US"/>
              <a:pPr/>
              <a:t>‹#›</a:t>
            </a:fld>
            <a:endParaRPr lang="en-US" altLang="en-US"/>
          </a:p>
        </p:txBody>
      </p:sp>
    </p:spTree>
    <p:extLst>
      <p:ext uri="{BB962C8B-B14F-4D97-AF65-F5344CB8AC3E}">
        <p14:creationId xmlns:p14="http://schemas.microsoft.com/office/powerpoint/2010/main" val="2188178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FECACAB-8F93-4899-AD13-62CA490A57C8}"/>
              </a:ext>
            </a:extLst>
          </p:cNvPr>
          <p:cNvSpPr>
            <a:spLocks noGrp="1"/>
          </p:cNvSpPr>
          <p:nvPr>
            <p:ph type="dt" sz="half" idx="10"/>
          </p:nvPr>
        </p:nvSpPr>
        <p:spPr/>
        <p:txBody>
          <a:bodyPr/>
          <a:lstStyle>
            <a:lvl1pPr>
              <a:defRPr/>
            </a:lvl1pPr>
          </a:lstStyle>
          <a:p>
            <a:pPr>
              <a:defRPr/>
            </a:pPr>
            <a:fld id="{7DDF58F0-0B71-4C0D-BBA6-85074C846FE6}" type="datetime1">
              <a:rPr lang="en-US"/>
              <a:pPr>
                <a:defRPr/>
              </a:pPr>
              <a:t>6/6/2026</a:t>
            </a:fld>
            <a:endParaRPr lang="en-US"/>
          </a:p>
        </p:txBody>
      </p:sp>
      <p:sp>
        <p:nvSpPr>
          <p:cNvPr id="4" name="Footer Placeholder 4">
            <a:extLst>
              <a:ext uri="{FF2B5EF4-FFF2-40B4-BE49-F238E27FC236}">
                <a16:creationId xmlns:a16="http://schemas.microsoft.com/office/drawing/2014/main" id="{446160C0-EE48-4D0E-A5AB-28501651FCE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5" name="Slide Number Placeholder 5">
            <a:extLst>
              <a:ext uri="{FF2B5EF4-FFF2-40B4-BE49-F238E27FC236}">
                <a16:creationId xmlns:a16="http://schemas.microsoft.com/office/drawing/2014/main" id="{DAD730CE-7954-4549-BAAE-6B545D3EC856}"/>
              </a:ext>
            </a:extLst>
          </p:cNvPr>
          <p:cNvSpPr>
            <a:spLocks noGrp="1"/>
          </p:cNvSpPr>
          <p:nvPr>
            <p:ph type="sldNum" sz="quarter" idx="12"/>
          </p:nvPr>
        </p:nvSpPr>
        <p:spPr/>
        <p:txBody>
          <a:bodyPr/>
          <a:lstStyle>
            <a:lvl1pPr>
              <a:defRPr/>
            </a:lvl1pPr>
          </a:lstStyle>
          <a:p>
            <a:fld id="{81B35500-9D2C-47A3-BF87-3935A794A65A}" type="slidenum">
              <a:rPr lang="en-US" altLang="en-US"/>
              <a:pPr/>
              <a:t>‹#›</a:t>
            </a:fld>
            <a:endParaRPr lang="en-US" altLang="en-US"/>
          </a:p>
        </p:txBody>
      </p:sp>
    </p:spTree>
    <p:extLst>
      <p:ext uri="{BB962C8B-B14F-4D97-AF65-F5344CB8AC3E}">
        <p14:creationId xmlns:p14="http://schemas.microsoft.com/office/powerpoint/2010/main" val="2060302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7E62CF2-CD3F-46A2-8A14-8052FB3F979E}"/>
              </a:ext>
            </a:extLst>
          </p:cNvPr>
          <p:cNvSpPr>
            <a:spLocks noGrp="1"/>
          </p:cNvSpPr>
          <p:nvPr>
            <p:ph type="dt" sz="half" idx="10"/>
          </p:nvPr>
        </p:nvSpPr>
        <p:spPr/>
        <p:txBody>
          <a:bodyPr/>
          <a:lstStyle>
            <a:lvl1pPr>
              <a:defRPr/>
            </a:lvl1pPr>
          </a:lstStyle>
          <a:p>
            <a:pPr>
              <a:defRPr/>
            </a:pPr>
            <a:fld id="{3433D11A-F1DE-4A50-95C9-D10180535CA0}" type="datetime1">
              <a:rPr lang="en-US"/>
              <a:pPr>
                <a:defRPr/>
              </a:pPr>
              <a:t>6/6/2026</a:t>
            </a:fld>
            <a:endParaRPr lang="en-US"/>
          </a:p>
        </p:txBody>
      </p:sp>
      <p:sp>
        <p:nvSpPr>
          <p:cNvPr id="3" name="Footer Placeholder 4">
            <a:extLst>
              <a:ext uri="{FF2B5EF4-FFF2-40B4-BE49-F238E27FC236}">
                <a16:creationId xmlns:a16="http://schemas.microsoft.com/office/drawing/2014/main" id="{641D14B1-D7C1-4357-B6C5-D6BDF3D8AE8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4" name="Slide Number Placeholder 5">
            <a:extLst>
              <a:ext uri="{FF2B5EF4-FFF2-40B4-BE49-F238E27FC236}">
                <a16:creationId xmlns:a16="http://schemas.microsoft.com/office/drawing/2014/main" id="{61A949BD-68C3-4EEF-B906-09FE3440E3FE}"/>
              </a:ext>
            </a:extLst>
          </p:cNvPr>
          <p:cNvSpPr>
            <a:spLocks noGrp="1"/>
          </p:cNvSpPr>
          <p:nvPr>
            <p:ph type="sldNum" sz="quarter" idx="12"/>
          </p:nvPr>
        </p:nvSpPr>
        <p:spPr/>
        <p:txBody>
          <a:bodyPr/>
          <a:lstStyle>
            <a:lvl1pPr>
              <a:defRPr/>
            </a:lvl1pPr>
          </a:lstStyle>
          <a:p>
            <a:fld id="{D1610838-7400-411B-B689-2F6C35481D0C}" type="slidenum">
              <a:rPr lang="en-US" altLang="en-US"/>
              <a:pPr/>
              <a:t>‹#›</a:t>
            </a:fld>
            <a:endParaRPr lang="en-US" altLang="en-US"/>
          </a:p>
        </p:txBody>
      </p:sp>
    </p:spTree>
    <p:extLst>
      <p:ext uri="{BB962C8B-B14F-4D97-AF65-F5344CB8AC3E}">
        <p14:creationId xmlns:p14="http://schemas.microsoft.com/office/powerpoint/2010/main" val="166312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5B26A4A-8706-4957-968A-429659FA63B9}"/>
              </a:ext>
            </a:extLst>
          </p:cNvPr>
          <p:cNvSpPr>
            <a:spLocks noGrp="1"/>
          </p:cNvSpPr>
          <p:nvPr>
            <p:ph type="dt" sz="half" idx="10"/>
          </p:nvPr>
        </p:nvSpPr>
        <p:spPr/>
        <p:txBody>
          <a:bodyPr/>
          <a:lstStyle>
            <a:lvl1pPr>
              <a:defRPr/>
            </a:lvl1pPr>
          </a:lstStyle>
          <a:p>
            <a:pPr>
              <a:defRPr/>
            </a:pPr>
            <a:fld id="{76D890D1-ADAD-4367-ADA2-AFAFF9F81D11}" type="datetime1">
              <a:rPr lang="en-US"/>
              <a:pPr>
                <a:defRPr/>
              </a:pPr>
              <a:t>6/6/2026</a:t>
            </a:fld>
            <a:endParaRPr lang="en-US"/>
          </a:p>
        </p:txBody>
      </p:sp>
      <p:sp>
        <p:nvSpPr>
          <p:cNvPr id="6" name="Footer Placeholder 4">
            <a:extLst>
              <a:ext uri="{FF2B5EF4-FFF2-40B4-BE49-F238E27FC236}">
                <a16:creationId xmlns:a16="http://schemas.microsoft.com/office/drawing/2014/main" id="{10A2F1D4-1189-48DE-BA98-325CD9C257C4}"/>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C7986B66-2394-42B1-9BDE-35C177A62693}"/>
              </a:ext>
            </a:extLst>
          </p:cNvPr>
          <p:cNvSpPr>
            <a:spLocks noGrp="1"/>
          </p:cNvSpPr>
          <p:nvPr>
            <p:ph type="sldNum" sz="quarter" idx="12"/>
          </p:nvPr>
        </p:nvSpPr>
        <p:spPr/>
        <p:txBody>
          <a:bodyPr/>
          <a:lstStyle>
            <a:lvl1pPr>
              <a:defRPr/>
            </a:lvl1pPr>
          </a:lstStyle>
          <a:p>
            <a:fld id="{5FEEDBB8-2F2A-4E69-B4E6-C45A1A219323}" type="slidenum">
              <a:rPr lang="en-US" altLang="en-US"/>
              <a:pPr/>
              <a:t>‹#›</a:t>
            </a:fld>
            <a:endParaRPr lang="en-US" altLang="en-US"/>
          </a:p>
        </p:txBody>
      </p:sp>
    </p:spTree>
    <p:extLst>
      <p:ext uri="{BB962C8B-B14F-4D97-AF65-F5344CB8AC3E}">
        <p14:creationId xmlns:p14="http://schemas.microsoft.com/office/powerpoint/2010/main" val="3952277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03A3A19-677F-46D0-8327-737A4396EFCE}"/>
              </a:ext>
            </a:extLst>
          </p:cNvPr>
          <p:cNvSpPr>
            <a:spLocks noGrp="1"/>
          </p:cNvSpPr>
          <p:nvPr>
            <p:ph type="dt" sz="half" idx="10"/>
          </p:nvPr>
        </p:nvSpPr>
        <p:spPr/>
        <p:txBody>
          <a:bodyPr/>
          <a:lstStyle>
            <a:lvl1pPr>
              <a:defRPr/>
            </a:lvl1pPr>
          </a:lstStyle>
          <a:p>
            <a:pPr>
              <a:defRPr/>
            </a:pPr>
            <a:fld id="{393651B4-9843-45AB-8E22-71543FB46DA2}" type="datetime1">
              <a:rPr lang="en-US"/>
              <a:pPr>
                <a:defRPr/>
              </a:pPr>
              <a:t>6/6/2026</a:t>
            </a:fld>
            <a:endParaRPr lang="en-US"/>
          </a:p>
        </p:txBody>
      </p:sp>
      <p:sp>
        <p:nvSpPr>
          <p:cNvPr id="6" name="Footer Placeholder 4">
            <a:extLst>
              <a:ext uri="{FF2B5EF4-FFF2-40B4-BE49-F238E27FC236}">
                <a16:creationId xmlns:a16="http://schemas.microsoft.com/office/drawing/2014/main" id="{EEC761C7-6D46-45C5-A06E-1C9467DF57EB}"/>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25F70F5-D8D2-4E99-B0E5-DC927F25456F}"/>
              </a:ext>
            </a:extLst>
          </p:cNvPr>
          <p:cNvSpPr>
            <a:spLocks noGrp="1"/>
          </p:cNvSpPr>
          <p:nvPr>
            <p:ph type="sldNum" sz="quarter" idx="12"/>
          </p:nvPr>
        </p:nvSpPr>
        <p:spPr/>
        <p:txBody>
          <a:bodyPr/>
          <a:lstStyle>
            <a:lvl1pPr>
              <a:defRPr/>
            </a:lvl1pPr>
          </a:lstStyle>
          <a:p>
            <a:fld id="{46600780-8261-4F2C-8AB1-4FC7C46475CB}" type="slidenum">
              <a:rPr lang="en-US" altLang="en-US"/>
              <a:pPr/>
              <a:t>‹#›</a:t>
            </a:fld>
            <a:endParaRPr lang="en-US" altLang="en-US"/>
          </a:p>
        </p:txBody>
      </p:sp>
    </p:spTree>
    <p:extLst>
      <p:ext uri="{BB962C8B-B14F-4D97-AF65-F5344CB8AC3E}">
        <p14:creationId xmlns:p14="http://schemas.microsoft.com/office/powerpoint/2010/main" val="1084317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78DC88-AE01-4CAA-9020-B90D8607B756}"/>
              </a:ext>
            </a:extLst>
          </p:cNvPr>
          <p:cNvSpPr>
            <a:spLocks noGrp="1"/>
          </p:cNvSpPr>
          <p:nvPr>
            <p:ph type="dt" sz="half" idx="10"/>
          </p:nvPr>
        </p:nvSpPr>
        <p:spPr/>
        <p:txBody>
          <a:bodyPr/>
          <a:lstStyle>
            <a:lvl1pPr>
              <a:defRPr/>
            </a:lvl1pPr>
          </a:lstStyle>
          <a:p>
            <a:pPr>
              <a:defRPr/>
            </a:pPr>
            <a:fld id="{4394FE15-DD9A-40C6-9AF8-2CF0E2DC9FED}" type="datetime1">
              <a:rPr lang="en-US"/>
              <a:pPr>
                <a:defRPr/>
              </a:pPr>
              <a:t>6/6/2026</a:t>
            </a:fld>
            <a:endParaRPr lang="en-US"/>
          </a:p>
        </p:txBody>
      </p:sp>
      <p:sp>
        <p:nvSpPr>
          <p:cNvPr id="5" name="Footer Placeholder 4">
            <a:extLst>
              <a:ext uri="{FF2B5EF4-FFF2-40B4-BE49-F238E27FC236}">
                <a16:creationId xmlns:a16="http://schemas.microsoft.com/office/drawing/2014/main" id="{25D2C5CF-6CAA-4307-B6A8-DF54D826BCC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724552A0-9D79-48E4-B25F-688BC1867D0D}"/>
              </a:ext>
            </a:extLst>
          </p:cNvPr>
          <p:cNvSpPr>
            <a:spLocks noGrp="1"/>
          </p:cNvSpPr>
          <p:nvPr>
            <p:ph type="sldNum" sz="quarter" idx="12"/>
          </p:nvPr>
        </p:nvSpPr>
        <p:spPr/>
        <p:txBody>
          <a:bodyPr/>
          <a:lstStyle>
            <a:lvl1pPr>
              <a:defRPr/>
            </a:lvl1pPr>
          </a:lstStyle>
          <a:p>
            <a:fld id="{2A26A04B-D0EF-4595-87CA-07FE647A1A75}" type="slidenum">
              <a:rPr lang="en-US" altLang="en-US"/>
              <a:pPr/>
              <a:t>‹#›</a:t>
            </a:fld>
            <a:endParaRPr lang="en-US" altLang="en-US"/>
          </a:p>
        </p:txBody>
      </p:sp>
    </p:spTree>
    <p:extLst>
      <p:ext uri="{BB962C8B-B14F-4D97-AF65-F5344CB8AC3E}">
        <p14:creationId xmlns:p14="http://schemas.microsoft.com/office/powerpoint/2010/main" val="97009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B76813-D725-49F2-945C-CCAB9D2A95D0}"/>
              </a:ext>
            </a:extLst>
          </p:cNvPr>
          <p:cNvSpPr>
            <a:spLocks noGrp="1"/>
          </p:cNvSpPr>
          <p:nvPr>
            <p:ph type="dt" sz="half" idx="10"/>
          </p:nvPr>
        </p:nvSpPr>
        <p:spPr/>
        <p:txBody>
          <a:bodyPr/>
          <a:lstStyle>
            <a:lvl1pPr>
              <a:defRPr/>
            </a:lvl1pPr>
          </a:lstStyle>
          <a:p>
            <a:pPr>
              <a:defRPr/>
            </a:pPr>
            <a:fld id="{370FD5AE-DF06-40E8-B10A-A7E8871D9706}" type="datetime1">
              <a:rPr lang="en-US"/>
              <a:pPr>
                <a:defRPr/>
              </a:pPr>
              <a:t>6/6/2026</a:t>
            </a:fld>
            <a:endParaRPr lang="en-US"/>
          </a:p>
        </p:txBody>
      </p:sp>
      <p:sp>
        <p:nvSpPr>
          <p:cNvPr id="5" name="Footer Placeholder 4">
            <a:extLst>
              <a:ext uri="{FF2B5EF4-FFF2-40B4-BE49-F238E27FC236}">
                <a16:creationId xmlns:a16="http://schemas.microsoft.com/office/drawing/2014/main" id="{041B94B4-C37D-4CF1-B803-70ECE9F9804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84CB5775-0DF8-430A-981E-D9F890F1E727}"/>
              </a:ext>
            </a:extLst>
          </p:cNvPr>
          <p:cNvSpPr>
            <a:spLocks noGrp="1"/>
          </p:cNvSpPr>
          <p:nvPr>
            <p:ph type="sldNum" sz="quarter" idx="12"/>
          </p:nvPr>
        </p:nvSpPr>
        <p:spPr/>
        <p:txBody>
          <a:bodyPr/>
          <a:lstStyle>
            <a:lvl1pPr>
              <a:defRPr/>
            </a:lvl1pPr>
          </a:lstStyle>
          <a:p>
            <a:fld id="{79B4311E-D5F2-40A4-B2D6-DDC2AFD86103}" type="slidenum">
              <a:rPr lang="en-US" altLang="en-US"/>
              <a:pPr/>
              <a:t>‹#›</a:t>
            </a:fld>
            <a:endParaRPr lang="en-US" altLang="en-US"/>
          </a:p>
        </p:txBody>
      </p:sp>
    </p:spTree>
    <p:extLst>
      <p:ext uri="{BB962C8B-B14F-4D97-AF65-F5344CB8AC3E}">
        <p14:creationId xmlns:p14="http://schemas.microsoft.com/office/powerpoint/2010/main" val="1656422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FDCBFCD-ADA5-49D9-8EC2-C25B2ED55BC0}"/>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C11E7B0C-3D44-4CB9-82E9-732D3B5E65E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B830E18-6B0F-4561-A8EC-664E8249DE82}"/>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06A74232-FC8A-49F8-80E8-B50A0BA80DF4}" type="datetime1">
              <a:rPr lang="en-US"/>
              <a:pPr>
                <a:defRPr/>
              </a:pPr>
              <a:t>6/6/2026</a:t>
            </a:fld>
            <a:endParaRPr lang="en-US"/>
          </a:p>
        </p:txBody>
      </p:sp>
      <p:sp>
        <p:nvSpPr>
          <p:cNvPr id="5" name="Footer Placeholder 4">
            <a:extLst>
              <a:ext uri="{FF2B5EF4-FFF2-40B4-BE49-F238E27FC236}">
                <a16:creationId xmlns:a16="http://schemas.microsoft.com/office/drawing/2014/main" id="{2A8380AF-395F-446F-B527-ECA9916A9611}"/>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2E7C784E-7B42-4220-A301-963093C40A64}"/>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1E04AAF9-47BF-4F68-B79A-2D00C1CD1B6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133BE8-A87E-4DBC-98E8-2FD6622AA548}"/>
              </a:ext>
            </a:extLst>
          </p:cNvPr>
          <p:cNvSpPr txBox="1">
            <a:spLocks/>
          </p:cNvSpPr>
          <p:nvPr/>
        </p:nvSpPr>
        <p:spPr>
          <a:xfrm>
            <a:off x="152400" y="177230"/>
            <a:ext cx="8839200" cy="6477000"/>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chor="ctr">
            <a:normAutofit/>
          </a:bodyPr>
          <a:lstStyle/>
          <a:p>
            <a:pPr algn="ctr" fontAlgn="auto">
              <a:spcAft>
                <a:spcPts val="0"/>
              </a:spcAft>
              <a:defRPr/>
            </a:pPr>
            <a:endParaRPr lang="en-US" sz="4400" dirty="0">
              <a:solidFill>
                <a:schemeClr val="tx1"/>
              </a:solidFill>
              <a:latin typeface="+mj-lt"/>
              <a:ea typeface="+mj-ea"/>
              <a:cs typeface="+mj-cs"/>
            </a:endParaRPr>
          </a:p>
        </p:txBody>
      </p:sp>
      <p:sp>
        <p:nvSpPr>
          <p:cNvPr id="2" name="Title 1">
            <a:extLst>
              <a:ext uri="{FF2B5EF4-FFF2-40B4-BE49-F238E27FC236}">
                <a16:creationId xmlns:a16="http://schemas.microsoft.com/office/drawing/2014/main" id="{D9B2990C-D7A3-4312-BBC7-CC2452B79ECF}"/>
              </a:ext>
            </a:extLst>
          </p:cNvPr>
          <p:cNvSpPr>
            <a:spLocks noGrp="1"/>
          </p:cNvSpPr>
          <p:nvPr>
            <p:ph type="ctrTitle"/>
          </p:nvPr>
        </p:nvSpPr>
        <p:spPr>
          <a:xfrm>
            <a:off x="920869" y="913787"/>
            <a:ext cx="7315200" cy="838200"/>
          </a:xfrm>
        </p:spPr>
        <p:txBody>
          <a:bodyPr rtlCol="0">
            <a:normAutofit fontScale="90000"/>
          </a:bodyPr>
          <a:lstStyle/>
          <a:p>
            <a:pPr fontAlgn="auto">
              <a:spcAft>
                <a:spcPts val="0"/>
              </a:spcAft>
              <a:defRPr/>
            </a:pPr>
            <a:r>
              <a:rPr lang="en-US" sz="3600" b="1" dirty="0"/>
              <a:t>   </a:t>
            </a:r>
            <a:br>
              <a:rPr lang="en-US" sz="2400" dirty="0"/>
            </a:br>
            <a:r>
              <a:rPr lang="en-US" sz="2400" b="1" dirty="0">
                <a:solidFill>
                  <a:srgbClr val="FF0000"/>
                </a:solidFill>
              </a:rPr>
              <a:t>DEPARTMENT OF COMPUTER SCIENCE AND ENGINEERING </a:t>
            </a:r>
            <a:br>
              <a:rPr lang="en-US" sz="2400" b="1" dirty="0"/>
            </a:br>
            <a:endParaRPr lang="en-US" sz="3600" b="1" dirty="0"/>
          </a:p>
        </p:txBody>
      </p:sp>
      <p:sp>
        <p:nvSpPr>
          <p:cNvPr id="7" name="Subtitle 2">
            <a:extLst>
              <a:ext uri="{FF2B5EF4-FFF2-40B4-BE49-F238E27FC236}">
                <a16:creationId xmlns:a16="http://schemas.microsoft.com/office/drawing/2014/main" id="{81E9BB19-E97E-45D3-BB72-E34CC7BF07BD}"/>
              </a:ext>
            </a:extLst>
          </p:cNvPr>
          <p:cNvSpPr txBox="1">
            <a:spLocks/>
          </p:cNvSpPr>
          <p:nvPr/>
        </p:nvSpPr>
        <p:spPr>
          <a:xfrm>
            <a:off x="228600" y="5181600"/>
            <a:ext cx="8686800" cy="1371600"/>
          </a:xfrm>
          <a:prstGeom prst="rect">
            <a:avLst/>
          </a:prstGeom>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lIns="91440" tIns="45720" rIns="91440" bIns="45720" anchor="t">
            <a:normAutofit fontScale="77500" lnSpcReduction="20000"/>
          </a:bodyPr>
          <a:lstStyle/>
          <a:p>
            <a:pPr algn="ctr" fontAlgn="auto">
              <a:spcBef>
                <a:spcPct val="20000"/>
              </a:spcBef>
              <a:spcAft>
                <a:spcPts val="0"/>
              </a:spcAft>
              <a:buFont typeface="Arial" pitchFamily="34" charset="0"/>
              <a:buNone/>
              <a:defRPr/>
            </a:pPr>
            <a:r>
              <a:rPr lang="en-US" sz="3300" b="1" u="sng" dirty="0">
                <a:solidFill>
                  <a:srgbClr val="FF0000"/>
                </a:solidFill>
              </a:rPr>
              <a:t>Guide Details</a:t>
            </a:r>
          </a:p>
          <a:p>
            <a:pPr algn="ctr" fontAlgn="auto">
              <a:spcBef>
                <a:spcPct val="20000"/>
              </a:spcBef>
              <a:spcAft>
                <a:spcPts val="0"/>
              </a:spcAft>
              <a:defRPr/>
            </a:pPr>
            <a:r>
              <a:rPr lang="en-US" sz="3000" b="1" dirty="0">
                <a:solidFill>
                  <a:srgbClr val="002060"/>
                </a:solidFill>
              </a:rPr>
              <a:t>Mr. Rajkumar B Patil</a:t>
            </a:r>
            <a:endParaRPr lang="en-US" sz="3000" b="1" dirty="0">
              <a:solidFill>
                <a:srgbClr val="002060"/>
              </a:solidFill>
              <a:cs typeface="Calibri"/>
            </a:endParaRPr>
          </a:p>
          <a:p>
            <a:pPr algn="ctr" fontAlgn="auto">
              <a:spcBef>
                <a:spcPct val="20000"/>
              </a:spcBef>
              <a:spcAft>
                <a:spcPts val="0"/>
              </a:spcAft>
              <a:defRPr/>
            </a:pPr>
            <a:r>
              <a:rPr lang="en-US" sz="2200" b="1" dirty="0">
                <a:solidFill>
                  <a:srgbClr val="002060"/>
                </a:solidFill>
              </a:rPr>
              <a:t> Associate Professor</a:t>
            </a:r>
          </a:p>
          <a:p>
            <a:pPr algn="ctr" fontAlgn="auto">
              <a:spcBef>
                <a:spcPct val="20000"/>
              </a:spcBef>
              <a:spcAft>
                <a:spcPts val="0"/>
              </a:spcAft>
              <a:defRPr/>
            </a:pPr>
            <a:r>
              <a:rPr lang="en-US" sz="2200" b="1" dirty="0">
                <a:solidFill>
                  <a:srgbClr val="002060"/>
                </a:solidFill>
              </a:rPr>
              <a:t>Department of CSE</a:t>
            </a:r>
          </a:p>
          <a:p>
            <a:pPr algn="ctr" fontAlgn="auto">
              <a:spcBef>
                <a:spcPct val="20000"/>
              </a:spcBef>
              <a:spcAft>
                <a:spcPts val="0"/>
              </a:spcAft>
              <a:buFont typeface="Arial" pitchFamily="34" charset="0"/>
              <a:buNone/>
              <a:defRPr/>
            </a:pPr>
            <a:endParaRPr lang="en-US" sz="1600" b="1" dirty="0">
              <a:solidFill>
                <a:srgbClr val="002060"/>
              </a:solidFill>
            </a:endParaRPr>
          </a:p>
          <a:p>
            <a:pPr fontAlgn="auto">
              <a:spcBef>
                <a:spcPct val="20000"/>
              </a:spcBef>
              <a:spcAft>
                <a:spcPts val="0"/>
              </a:spcAft>
              <a:buFont typeface="Arial" pitchFamily="34" charset="0"/>
              <a:buNone/>
              <a:defRPr/>
            </a:pPr>
            <a:endParaRPr lang="en-US" sz="3200" dirty="0">
              <a:solidFill>
                <a:schemeClr val="tx1">
                  <a:tint val="75000"/>
                </a:schemeClr>
              </a:solidFill>
            </a:endParaRPr>
          </a:p>
        </p:txBody>
      </p:sp>
      <p:sp>
        <p:nvSpPr>
          <p:cNvPr id="9" name="Title 1">
            <a:extLst>
              <a:ext uri="{FF2B5EF4-FFF2-40B4-BE49-F238E27FC236}">
                <a16:creationId xmlns:a16="http://schemas.microsoft.com/office/drawing/2014/main" id="{C3034EB3-E5B7-485E-984F-A0E903E0E9A7}"/>
              </a:ext>
            </a:extLst>
          </p:cNvPr>
          <p:cNvSpPr txBox="1">
            <a:spLocks/>
          </p:cNvSpPr>
          <p:nvPr/>
        </p:nvSpPr>
        <p:spPr>
          <a:xfrm>
            <a:off x="2743200" y="2286000"/>
            <a:ext cx="3657600" cy="533400"/>
          </a:xfrm>
          <a:prstGeom prst="rect">
            <a:avLst/>
          </a:prstGeom>
        </p:spPr>
        <p:style>
          <a:lnRef idx="2">
            <a:schemeClr val="accent1"/>
          </a:lnRef>
          <a:fillRef idx="1">
            <a:schemeClr val="lt1"/>
          </a:fillRef>
          <a:effectRef idx="0">
            <a:schemeClr val="accent1"/>
          </a:effectRef>
          <a:fontRef idx="minor">
            <a:schemeClr val="dk1"/>
          </a:fontRef>
        </p:style>
        <p:txBody>
          <a:bodyPr lIns="91440" tIns="45720" rIns="91440" bIns="45720" anchor="ctr">
            <a:normAutofit/>
          </a:bodyPr>
          <a:lstStyle/>
          <a:p>
            <a:pPr algn="ctr" fontAlgn="auto">
              <a:spcAft>
                <a:spcPts val="0"/>
              </a:spcAft>
              <a:defRPr/>
            </a:pPr>
            <a:r>
              <a:rPr lang="en-US" sz="2400" b="1" dirty="0">
                <a:solidFill>
                  <a:schemeClr val="tx1"/>
                </a:solidFill>
                <a:latin typeface="+mj-lt"/>
                <a:ea typeface="+mj-ea"/>
                <a:cs typeface="+mj-cs"/>
              </a:rPr>
              <a:t>BATCH ID : 23MPCS-H6</a:t>
            </a:r>
          </a:p>
        </p:txBody>
      </p:sp>
      <p:sp>
        <p:nvSpPr>
          <p:cNvPr id="10" name="Title 1">
            <a:extLst>
              <a:ext uri="{FF2B5EF4-FFF2-40B4-BE49-F238E27FC236}">
                <a16:creationId xmlns:a16="http://schemas.microsoft.com/office/drawing/2014/main" id="{EB366ABC-1782-4359-A4C5-6579CEFE1A4B}"/>
              </a:ext>
            </a:extLst>
          </p:cNvPr>
          <p:cNvSpPr txBox="1">
            <a:spLocks/>
          </p:cNvSpPr>
          <p:nvPr/>
        </p:nvSpPr>
        <p:spPr>
          <a:xfrm>
            <a:off x="304800" y="1524000"/>
            <a:ext cx="8610600" cy="609600"/>
          </a:xfrm>
          <a:prstGeom prst="rect">
            <a:avLst/>
          </a:prstGeom>
          <a:solidFill>
            <a:schemeClr val="accent1">
              <a:lumMod val="40000"/>
              <a:lumOff val="60000"/>
            </a:schemeClr>
          </a:solidFill>
          <a:ln>
            <a:solidFill>
              <a:schemeClr val="accent1">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91440" tIns="45720" rIns="91440" bIns="45720" anchor="ctr">
            <a:normAutofit fontScale="70000" lnSpcReduction="20000"/>
          </a:bodyPr>
          <a:lstStyle/>
          <a:p>
            <a:pPr algn="ctr" fontAlgn="auto">
              <a:spcAft>
                <a:spcPts val="0"/>
              </a:spcAft>
              <a:defRPr/>
            </a:pPr>
            <a:r>
              <a:rPr lang="en-US" sz="2800" b="1" dirty="0">
                <a:solidFill>
                  <a:schemeClr val="tx1"/>
                </a:solidFill>
                <a:latin typeface="+mj-lt"/>
                <a:ea typeface="+mj-ea"/>
                <a:cs typeface="+mj-cs"/>
              </a:rPr>
              <a:t>Title: Real-Time Cyberbullying Detection on User Generated Content using NLP Techniques and SVM </a:t>
            </a:r>
          </a:p>
        </p:txBody>
      </p:sp>
      <p:graphicFrame>
        <p:nvGraphicFramePr>
          <p:cNvPr id="12" name="Table 11">
            <a:extLst>
              <a:ext uri="{FF2B5EF4-FFF2-40B4-BE49-F238E27FC236}">
                <a16:creationId xmlns:a16="http://schemas.microsoft.com/office/drawing/2014/main" id="{4B4BF96B-13BF-42E1-B330-96082705FEC5}"/>
              </a:ext>
            </a:extLst>
          </p:cNvPr>
          <p:cNvGraphicFramePr>
            <a:graphicFrameLocks noGrp="1"/>
          </p:cNvGraphicFramePr>
          <p:nvPr>
            <p:extLst>
              <p:ext uri="{D42A27DB-BD31-4B8C-83A1-F6EECF244321}">
                <p14:modId xmlns:p14="http://schemas.microsoft.com/office/powerpoint/2010/main" val="3724947876"/>
              </p:ext>
            </p:extLst>
          </p:nvPr>
        </p:nvGraphicFramePr>
        <p:xfrm>
          <a:off x="1219200" y="2971800"/>
          <a:ext cx="6934200" cy="1981200"/>
        </p:xfrm>
        <a:graphic>
          <a:graphicData uri="http://schemas.openxmlformats.org/drawingml/2006/table">
            <a:tbl>
              <a:tblPr firstRow="1" bandRow="1">
                <a:tableStyleId>{00A15C55-8517-42AA-B614-E9B94910E393}</a:tableStyleId>
              </a:tblPr>
              <a:tblGrid>
                <a:gridCol w="780098">
                  <a:extLst>
                    <a:ext uri="{9D8B030D-6E8A-4147-A177-3AD203B41FA5}">
                      <a16:colId xmlns:a16="http://schemas.microsoft.com/office/drawing/2014/main" val="20000"/>
                    </a:ext>
                  </a:extLst>
                </a:gridCol>
                <a:gridCol w="1839489">
                  <a:extLst>
                    <a:ext uri="{9D8B030D-6E8A-4147-A177-3AD203B41FA5}">
                      <a16:colId xmlns:a16="http://schemas.microsoft.com/office/drawing/2014/main" val="20001"/>
                    </a:ext>
                  </a:extLst>
                </a:gridCol>
                <a:gridCol w="4314613">
                  <a:extLst>
                    <a:ext uri="{9D8B030D-6E8A-4147-A177-3AD203B41FA5}">
                      <a16:colId xmlns:a16="http://schemas.microsoft.com/office/drawing/2014/main" val="20002"/>
                    </a:ext>
                  </a:extLst>
                </a:gridCol>
              </a:tblGrid>
              <a:tr h="370840">
                <a:tc>
                  <a:txBody>
                    <a:bodyPr/>
                    <a:lstStyle/>
                    <a:p>
                      <a:pPr algn="ctr"/>
                      <a:r>
                        <a:rPr lang="en-US" sz="2000" b="1" dirty="0"/>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Roll.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Student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23881A05GP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P Rishita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sz="20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A Abhinay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sz="20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23881A05FN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J Ashvith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US" sz="2000"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22881A0552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S Shirisha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3" name="Picture 2">
            <a:extLst>
              <a:ext uri="{FF2B5EF4-FFF2-40B4-BE49-F238E27FC236}">
                <a16:creationId xmlns:a16="http://schemas.microsoft.com/office/drawing/2014/main" id="{7C380515-DA03-C63F-7DAB-FBAD305F3C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4114" y="267313"/>
            <a:ext cx="1244394" cy="951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BCD6-0BDF-480C-A0B6-637D78994FE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spcAft>
                <a:spcPts val="0"/>
              </a:spcAft>
              <a:defRPr/>
            </a:pPr>
            <a:r>
              <a:rPr lang="en-US" sz="3200" b="1" dirty="0">
                <a:solidFill>
                  <a:schemeClr val="accent2">
                    <a:lumMod val="75000"/>
                  </a:schemeClr>
                </a:solidFill>
              </a:rPr>
              <a:t>Mini Project Outlines</a:t>
            </a:r>
          </a:p>
        </p:txBody>
      </p:sp>
      <p:sp>
        <p:nvSpPr>
          <p:cNvPr id="3" name="Content Placeholder 2">
            <a:extLst>
              <a:ext uri="{FF2B5EF4-FFF2-40B4-BE49-F238E27FC236}">
                <a16:creationId xmlns:a16="http://schemas.microsoft.com/office/drawing/2014/main" id="{9B0F8B19-D2C3-436D-A49D-CAD348F238EB}"/>
              </a:ext>
            </a:extLst>
          </p:cNvPr>
          <p:cNvSpPr>
            <a:spLocks noGrp="1"/>
          </p:cNvSpPr>
          <p:nvPr>
            <p:ph idx="1"/>
          </p:nvPr>
        </p:nvSpPr>
        <p:spPr>
          <a:xfrm>
            <a:off x="228600" y="1014413"/>
            <a:ext cx="8763000" cy="5614987"/>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fontAlgn="auto">
              <a:lnSpc>
                <a:spcPct val="110000"/>
              </a:lnSpc>
              <a:spcBef>
                <a:spcPts val="1200"/>
              </a:spcBef>
              <a:spcAft>
                <a:spcPts val="0"/>
              </a:spcAft>
              <a:defRPr/>
            </a:pPr>
            <a:r>
              <a:rPr lang="en-US" sz="1800" b="1" dirty="0">
                <a:ea typeface="+mn-lt"/>
                <a:cs typeface="+mn-lt"/>
              </a:rPr>
              <a:t>Introduction</a:t>
            </a:r>
            <a:endParaRPr lang="en-US" sz="1800" dirty="0">
              <a:ea typeface="+mn-lt"/>
              <a:cs typeface="+mn-lt"/>
            </a:endParaRPr>
          </a:p>
          <a:p>
            <a:pPr>
              <a:lnSpc>
                <a:spcPct val="110000"/>
              </a:lnSpc>
              <a:spcBef>
                <a:spcPts val="1200"/>
              </a:spcBef>
              <a:spcAft>
                <a:spcPts val="0"/>
              </a:spcAft>
              <a:defRPr/>
            </a:pPr>
            <a:r>
              <a:rPr lang="en-US" sz="1800" b="1" dirty="0">
                <a:ea typeface="+mn-lt"/>
                <a:cs typeface="+mn-lt"/>
              </a:rPr>
              <a:t>Existing System Vs Proposed </a:t>
            </a:r>
          </a:p>
          <a:p>
            <a:pPr>
              <a:lnSpc>
                <a:spcPct val="110000"/>
              </a:lnSpc>
              <a:spcBef>
                <a:spcPts val="1200"/>
              </a:spcBef>
              <a:spcAft>
                <a:spcPts val="0"/>
              </a:spcAft>
              <a:defRPr/>
            </a:pPr>
            <a:r>
              <a:rPr lang="en-US" sz="1800" b="1" dirty="0">
                <a:ea typeface="+mn-lt"/>
                <a:cs typeface="+mn-lt"/>
              </a:rPr>
              <a:t>Research Gaps </a:t>
            </a:r>
          </a:p>
          <a:p>
            <a:pPr>
              <a:lnSpc>
                <a:spcPct val="110000"/>
              </a:lnSpc>
              <a:spcBef>
                <a:spcPts val="1200"/>
              </a:spcBef>
              <a:spcAft>
                <a:spcPts val="0"/>
              </a:spcAft>
              <a:defRPr/>
            </a:pPr>
            <a:r>
              <a:rPr lang="en-US" sz="1800" b="1" dirty="0">
                <a:ea typeface="+mn-lt"/>
                <a:cs typeface="+mn-lt"/>
              </a:rPr>
              <a:t>Problem Statement</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Objectives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Outcomes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Software and Hardware Requirements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Architectural Diagram</a:t>
            </a:r>
            <a:endParaRPr lang="en-US" sz="1800" dirty="0">
              <a:ea typeface="+mn-lt"/>
              <a:cs typeface="+mn-lt"/>
            </a:endParaRPr>
          </a:p>
          <a:p>
            <a:pPr>
              <a:lnSpc>
                <a:spcPct val="110000"/>
              </a:lnSpc>
              <a:spcBef>
                <a:spcPts val="1200"/>
              </a:spcBef>
              <a:spcAft>
                <a:spcPts val="0"/>
              </a:spcAft>
              <a:buFont typeface="Arial,Sans-Serif" panose="020B0604020202020204" pitchFamily="34" charset="0"/>
              <a:defRPr/>
            </a:pPr>
            <a:r>
              <a:rPr lang="en-US" sz="1800" b="1" dirty="0">
                <a:ea typeface="+mn-lt"/>
                <a:cs typeface="+mn-lt"/>
              </a:rPr>
              <a:t>Proposed Methods and Algorithms </a:t>
            </a:r>
          </a:p>
          <a:p>
            <a:pPr>
              <a:lnSpc>
                <a:spcPct val="110000"/>
              </a:lnSpc>
              <a:spcBef>
                <a:spcPts val="1200"/>
              </a:spcBef>
              <a:spcAft>
                <a:spcPts val="0"/>
              </a:spcAft>
              <a:buFont typeface="Arial,Sans-Serif" panose="020B0604020202020204" pitchFamily="34" charset="0"/>
              <a:defRPr/>
            </a:pPr>
            <a:r>
              <a:rPr lang="en-US" sz="1800" b="1" dirty="0">
                <a:ea typeface="+mn-lt"/>
                <a:cs typeface="+mn-lt"/>
              </a:rPr>
              <a:t>Results</a:t>
            </a:r>
          </a:p>
          <a:p>
            <a:pPr>
              <a:lnSpc>
                <a:spcPct val="110000"/>
              </a:lnSpc>
              <a:spcBef>
                <a:spcPts val="1200"/>
              </a:spcBef>
              <a:spcAft>
                <a:spcPts val="0"/>
              </a:spcAft>
              <a:buFont typeface="Arial,Sans-Serif" panose="020B0604020202020204" pitchFamily="34" charset="0"/>
              <a:defRPr/>
            </a:pPr>
            <a:r>
              <a:rPr lang="en-US" sz="1800" b="1" dirty="0">
                <a:ea typeface="+mn-lt"/>
                <a:cs typeface="+mn-lt"/>
              </a:rPr>
              <a:t>Research Paper (Acceptance Proofs)</a:t>
            </a:r>
          </a:p>
          <a:p>
            <a:pPr>
              <a:lnSpc>
                <a:spcPct val="110000"/>
              </a:lnSpc>
              <a:spcBef>
                <a:spcPts val="1200"/>
              </a:spcBef>
              <a:spcAft>
                <a:spcPts val="0"/>
              </a:spcAft>
              <a:buFont typeface="Arial,Sans-Serif" panose="020B0604020202020204" pitchFamily="34" charset="0"/>
              <a:defRPr/>
            </a:pPr>
            <a:r>
              <a:rPr lang="en-US" sz="1800" b="1" dirty="0">
                <a:ea typeface="+mn-lt"/>
                <a:cs typeface="+mn-lt"/>
              </a:rPr>
              <a:t>Conclusion</a:t>
            </a: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p:txBody>
      </p:sp>
      <p:sp>
        <p:nvSpPr>
          <p:cNvPr id="5" name="Slide Number Placeholder 4">
            <a:extLst>
              <a:ext uri="{FF2B5EF4-FFF2-40B4-BE49-F238E27FC236}">
                <a16:creationId xmlns:a16="http://schemas.microsoft.com/office/drawing/2014/main" id="{A1A625E3-5C6C-47E5-A216-96E946FCDCF9}"/>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DC7A18A-CF2F-40C0-9C89-65D9A71130B3}" type="slidenum">
              <a:rPr lang="en-US" altLang="en-US">
                <a:solidFill>
                  <a:srgbClr val="898989"/>
                </a:solidFill>
              </a:rPr>
              <a:pPr/>
              <a:t>2</a:t>
            </a:fld>
            <a:endParaRPr lang="en-US" altLang="en-US">
              <a:solidFill>
                <a:srgbClr val="898989"/>
              </a:solidFill>
            </a:endParaRPr>
          </a:p>
        </p:txBody>
      </p:sp>
      <p:pic>
        <p:nvPicPr>
          <p:cNvPr id="4" name="Picture 3">
            <a:extLst>
              <a:ext uri="{FF2B5EF4-FFF2-40B4-BE49-F238E27FC236}">
                <a16:creationId xmlns:a16="http://schemas.microsoft.com/office/drawing/2014/main" id="{1CFCE242-E21F-4D18-A237-B7CA4E6562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 MINI PROJECT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FFB9-D3CC-44A9-9FC7-C2A67668EBD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Introduction</a:t>
            </a:r>
          </a:p>
        </p:txBody>
      </p:sp>
      <p:sp>
        <p:nvSpPr>
          <p:cNvPr id="3" name="Content Placeholder 2">
            <a:extLst>
              <a:ext uri="{FF2B5EF4-FFF2-40B4-BE49-F238E27FC236}">
                <a16:creationId xmlns:a16="http://schemas.microsoft.com/office/drawing/2014/main" id="{A815A160-9E89-4EFA-87F2-5AD9612AF7E2}"/>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fontAlgn="auto">
              <a:spcAft>
                <a:spcPts val="0"/>
              </a:spcAft>
              <a:defRPr/>
            </a:pPr>
            <a:r>
              <a:rPr lang="en-US" sz="2800" dirty="0">
                <a:latin typeface="Times New Roman" panose="02020603050405020304" pitchFamily="18" charset="0"/>
                <a:cs typeface="Times New Roman" panose="02020603050405020304" pitchFamily="18" charset="0"/>
              </a:rPr>
              <a:t>Social media platforms generate massive user content daily.</a:t>
            </a:r>
          </a:p>
          <a:p>
            <a:pPr fontAlgn="auto">
              <a:spcAft>
                <a:spcPts val="0"/>
              </a:spcAft>
              <a:defRPr/>
            </a:pPr>
            <a:r>
              <a:rPr lang="en-US" sz="2800" dirty="0">
                <a:latin typeface="Times New Roman" panose="02020603050405020304" pitchFamily="18" charset="0"/>
                <a:cs typeface="Times New Roman" panose="02020603050405020304" pitchFamily="18" charset="0"/>
              </a:rPr>
              <a:t>Cyberbullying is a serious issue affecting mental health, especially among teenagers.</a:t>
            </a:r>
          </a:p>
          <a:p>
            <a:pPr fontAlgn="auto">
              <a:spcAft>
                <a:spcPts val="0"/>
              </a:spcAft>
              <a:defRPr/>
            </a:pPr>
            <a:r>
              <a:rPr lang="en-US" sz="2800" dirty="0">
                <a:latin typeface="Times New Roman" panose="02020603050405020304" pitchFamily="18" charset="0"/>
                <a:cs typeface="Times New Roman" panose="02020603050405020304" pitchFamily="18" charset="0"/>
              </a:rPr>
              <a:t>Traditional moderation methods are often manual or keyword-based, leading to low accuracy.</a:t>
            </a:r>
          </a:p>
          <a:p>
            <a:pPr fontAlgn="auto">
              <a:spcAft>
                <a:spcPts val="0"/>
              </a:spcAft>
              <a:defRPr/>
            </a:pPr>
            <a:r>
              <a:rPr lang="en-US" sz="2800" dirty="0">
                <a:latin typeface="Times New Roman" panose="02020603050405020304" pitchFamily="18" charset="0"/>
                <a:cs typeface="Times New Roman" panose="02020603050405020304" pitchFamily="18" charset="0"/>
              </a:rPr>
              <a:t>Real-time detection can help prevent harassment and promote safer online interactions.</a:t>
            </a:r>
          </a:p>
          <a:p>
            <a:pPr fontAlgn="auto">
              <a:spcAft>
                <a:spcPts val="0"/>
              </a:spcAft>
              <a:defRPr/>
            </a:pPr>
            <a:r>
              <a:rPr lang="en-US" sz="2800" dirty="0">
                <a:latin typeface="Times New Roman" panose="02020603050405020304" pitchFamily="18" charset="0"/>
                <a:cs typeface="Times New Roman" panose="02020603050405020304" pitchFamily="18" charset="0"/>
              </a:rPr>
              <a:t>Our project focuses on detecting cyberbullying using NLP techniques and Support Vector Machine (SVM) models.</a:t>
            </a:r>
          </a:p>
        </p:txBody>
      </p:sp>
      <p:sp>
        <p:nvSpPr>
          <p:cNvPr id="5" name="Slide Number Placeholder 4">
            <a:extLst>
              <a:ext uri="{FF2B5EF4-FFF2-40B4-BE49-F238E27FC236}">
                <a16:creationId xmlns:a16="http://schemas.microsoft.com/office/drawing/2014/main" id="{8F18BBA2-811F-41E1-AEAF-A3557D1BE27B}"/>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DEC69A3-0958-4FE2-B1B4-1106920B80C0}" type="slidenum">
              <a:rPr lang="en-US" altLang="en-US">
                <a:solidFill>
                  <a:srgbClr val="898989"/>
                </a:solidFill>
              </a:rPr>
              <a:pPr/>
              <a:t>3</a:t>
            </a:fld>
            <a:endParaRPr lang="en-US" altLang="en-US">
              <a:solidFill>
                <a:srgbClr val="898989"/>
              </a:solidFill>
            </a:endParaRPr>
          </a:p>
        </p:txBody>
      </p:sp>
      <p:pic>
        <p:nvPicPr>
          <p:cNvPr id="4" name="Picture 3">
            <a:extLst>
              <a:ext uri="{FF2B5EF4-FFF2-40B4-BE49-F238E27FC236}">
                <a16:creationId xmlns:a16="http://schemas.microsoft.com/office/drawing/2014/main" id="{B543C64E-E448-0AE8-AC06-C25391F172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2628900" y="6264275"/>
            <a:ext cx="3962400" cy="365125"/>
          </a:xfrm>
        </p:spPr>
        <p:txBody>
          <a:bodyPr/>
          <a:lstStyle/>
          <a:p>
            <a:pPr>
              <a:defRPr/>
            </a:pPr>
            <a:r>
              <a:rPr lang="en-US" dirty="0"/>
              <a:t>DEPARTMENT OF CSE : MINI PROJECT</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Existing System Vs Proposed </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4</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graphicFrame>
        <p:nvGraphicFramePr>
          <p:cNvPr id="6" name="Content Placeholder 5">
            <a:extLst>
              <a:ext uri="{FF2B5EF4-FFF2-40B4-BE49-F238E27FC236}">
                <a16:creationId xmlns:a16="http://schemas.microsoft.com/office/drawing/2014/main" id="{8C3F90B3-AFA8-E989-13C0-6C0112BBCFCA}"/>
              </a:ext>
            </a:extLst>
          </p:cNvPr>
          <p:cNvGraphicFramePr>
            <a:graphicFrameLocks noGrp="1"/>
          </p:cNvGraphicFramePr>
          <p:nvPr>
            <p:ph idx="1"/>
            <p:extLst>
              <p:ext uri="{D42A27DB-BD31-4B8C-83A1-F6EECF244321}">
                <p14:modId xmlns:p14="http://schemas.microsoft.com/office/powerpoint/2010/main" val="935589147"/>
              </p:ext>
            </p:extLst>
          </p:nvPr>
        </p:nvGraphicFramePr>
        <p:xfrm>
          <a:off x="457200" y="1600200"/>
          <a:ext cx="8229600" cy="11125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3936491368"/>
                    </a:ext>
                  </a:extLst>
                </a:gridCol>
                <a:gridCol w="2743200">
                  <a:extLst>
                    <a:ext uri="{9D8B030D-6E8A-4147-A177-3AD203B41FA5}">
                      <a16:colId xmlns:a16="http://schemas.microsoft.com/office/drawing/2014/main" val="504438293"/>
                    </a:ext>
                  </a:extLst>
                </a:gridCol>
                <a:gridCol w="2743200">
                  <a:extLst>
                    <a:ext uri="{9D8B030D-6E8A-4147-A177-3AD203B41FA5}">
                      <a16:colId xmlns:a16="http://schemas.microsoft.com/office/drawing/2014/main" val="2414338665"/>
                    </a:ext>
                  </a:extLst>
                </a:gridCol>
              </a:tblGrid>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769820893"/>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066955095"/>
                  </a:ext>
                </a:extLst>
              </a:tr>
              <a:tr h="370840">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803087493"/>
                  </a:ext>
                </a:extLst>
              </a:tr>
            </a:tbl>
          </a:graphicData>
        </a:graphic>
      </p:graphicFrame>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a:p>
          <a:p>
            <a:pPr fontAlgn="auto">
              <a:spcAft>
                <a:spcPts val="0"/>
              </a:spcAft>
              <a:buFont typeface="Arial" panose="020B0604020202020204" pitchFamily="34" charset="0"/>
              <a:buNone/>
              <a:defRPr/>
            </a:pPr>
            <a:endParaRPr lang="en-US" sz="2800" dirty="0">
              <a:cs typeface="Calibri"/>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DEPARTMENT OF CSE : MINI PROJECT</a:t>
            </a:r>
            <a:endParaRPr lang="en-US" dirty="0"/>
          </a:p>
        </p:txBody>
      </p:sp>
      <p:graphicFrame>
        <p:nvGraphicFramePr>
          <p:cNvPr id="8" name="Table 7">
            <a:extLst>
              <a:ext uri="{FF2B5EF4-FFF2-40B4-BE49-F238E27FC236}">
                <a16:creationId xmlns:a16="http://schemas.microsoft.com/office/drawing/2014/main" id="{67B85CB2-3705-64B7-DEAF-812DD0D28109}"/>
              </a:ext>
            </a:extLst>
          </p:cNvPr>
          <p:cNvGraphicFramePr>
            <a:graphicFrameLocks noGrp="1"/>
          </p:cNvGraphicFramePr>
          <p:nvPr>
            <p:extLst>
              <p:ext uri="{D42A27DB-BD31-4B8C-83A1-F6EECF244321}">
                <p14:modId xmlns:p14="http://schemas.microsoft.com/office/powerpoint/2010/main" val="1038599116"/>
              </p:ext>
            </p:extLst>
          </p:nvPr>
        </p:nvGraphicFramePr>
        <p:xfrm>
          <a:off x="533400" y="1295400"/>
          <a:ext cx="8229600" cy="4846318"/>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4101908938"/>
                    </a:ext>
                  </a:extLst>
                </a:gridCol>
                <a:gridCol w="2743200">
                  <a:extLst>
                    <a:ext uri="{9D8B030D-6E8A-4147-A177-3AD203B41FA5}">
                      <a16:colId xmlns:a16="http://schemas.microsoft.com/office/drawing/2014/main" val="1591734266"/>
                    </a:ext>
                  </a:extLst>
                </a:gridCol>
                <a:gridCol w="2743200">
                  <a:extLst>
                    <a:ext uri="{9D8B030D-6E8A-4147-A177-3AD203B41FA5}">
                      <a16:colId xmlns:a16="http://schemas.microsoft.com/office/drawing/2014/main" val="451094347"/>
                    </a:ext>
                  </a:extLst>
                </a:gridCol>
              </a:tblGrid>
              <a:tr h="570917">
                <a:tc>
                  <a:txBody>
                    <a:bodyPr/>
                    <a:lstStyle/>
                    <a:p>
                      <a:r>
                        <a:rPr lang="en-US" dirty="0"/>
                        <a:t>Aspect</a:t>
                      </a:r>
                    </a:p>
                  </a:txBody>
                  <a:tcPr/>
                </a:tc>
                <a:tc>
                  <a:txBody>
                    <a:bodyPr/>
                    <a:lstStyle/>
                    <a:p>
                      <a:r>
                        <a:rPr lang="en-US" dirty="0"/>
                        <a:t>Existing System</a:t>
                      </a:r>
                    </a:p>
                  </a:txBody>
                  <a:tcPr/>
                </a:tc>
                <a:tc>
                  <a:txBody>
                    <a:bodyPr/>
                    <a:lstStyle/>
                    <a:p>
                      <a:r>
                        <a:rPr lang="en-US" dirty="0"/>
                        <a:t>Proposed System</a:t>
                      </a:r>
                    </a:p>
                  </a:txBody>
                  <a:tcPr/>
                </a:tc>
                <a:extLst>
                  <a:ext uri="{0D108BD9-81ED-4DB2-BD59-A6C34878D82A}">
                    <a16:rowId xmlns:a16="http://schemas.microsoft.com/office/drawing/2014/main" val="599367234"/>
                  </a:ext>
                </a:extLst>
              </a:tr>
              <a:tr h="726277">
                <a:tc>
                  <a:txBody>
                    <a:bodyPr/>
                    <a:lstStyle/>
                    <a:p>
                      <a:r>
                        <a:rPr lang="en-US" dirty="0"/>
                        <a:t>Detection Method</a:t>
                      </a:r>
                    </a:p>
                  </a:txBody>
                  <a:tcPr/>
                </a:tc>
                <a:tc>
                  <a:txBody>
                    <a:bodyPr/>
                    <a:lstStyle/>
                    <a:p>
                      <a:r>
                        <a:rPr lang="en-US" dirty="0"/>
                        <a:t>Manual moderation, keyword-based</a:t>
                      </a:r>
                    </a:p>
                  </a:txBody>
                  <a:tcPr/>
                </a:tc>
                <a:tc>
                  <a:txBody>
                    <a:bodyPr/>
                    <a:lstStyle/>
                    <a:p>
                      <a:r>
                        <a:rPr lang="en-US" dirty="0"/>
                        <a:t>Automated, NLP + SVM</a:t>
                      </a:r>
                    </a:p>
                  </a:txBody>
                  <a:tcPr/>
                </a:tc>
                <a:extLst>
                  <a:ext uri="{0D108BD9-81ED-4DB2-BD59-A6C34878D82A}">
                    <a16:rowId xmlns:a16="http://schemas.microsoft.com/office/drawing/2014/main" val="2835219056"/>
                  </a:ext>
                </a:extLst>
              </a:tr>
              <a:tr h="653786">
                <a:tc>
                  <a:txBody>
                    <a:bodyPr/>
                    <a:lstStyle/>
                    <a:p>
                      <a:r>
                        <a:rPr lang="en-US" dirty="0"/>
                        <a:t>Accuracy</a:t>
                      </a:r>
                    </a:p>
                  </a:txBody>
                  <a:tcPr/>
                </a:tc>
                <a:tc>
                  <a:txBody>
                    <a:bodyPr/>
                    <a:lstStyle/>
                    <a:p>
                      <a:r>
                        <a:rPr lang="en-US" dirty="0"/>
                        <a:t>Moderate, prone to false positives/negatives</a:t>
                      </a:r>
                    </a:p>
                  </a:txBody>
                  <a:tcPr/>
                </a:tc>
                <a:tc>
                  <a:txBody>
                    <a:bodyPr/>
                    <a:lstStyle/>
                    <a:p>
                      <a:r>
                        <a:rPr lang="en-US" dirty="0"/>
                        <a:t>Higher, context-aware classification</a:t>
                      </a:r>
                    </a:p>
                  </a:txBody>
                  <a:tcPr/>
                </a:tc>
                <a:extLst>
                  <a:ext uri="{0D108BD9-81ED-4DB2-BD59-A6C34878D82A}">
                    <a16:rowId xmlns:a16="http://schemas.microsoft.com/office/drawing/2014/main" val="2726715863"/>
                  </a:ext>
                </a:extLst>
              </a:tr>
              <a:tr h="653786">
                <a:tc>
                  <a:txBody>
                    <a:bodyPr/>
                    <a:lstStyle/>
                    <a:p>
                      <a:r>
                        <a:rPr lang="en-US" dirty="0"/>
                        <a:t>Scalability</a:t>
                      </a:r>
                    </a:p>
                  </a:txBody>
                  <a:tcPr/>
                </a:tc>
                <a:tc>
                  <a:txBody>
                    <a:bodyPr/>
                    <a:lstStyle/>
                    <a:p>
                      <a:r>
                        <a:rPr lang="en-US" dirty="0"/>
                        <a:t>Limited to small datasets</a:t>
                      </a:r>
                    </a:p>
                  </a:txBody>
                  <a:tcPr/>
                </a:tc>
                <a:tc>
                  <a:txBody>
                    <a:bodyPr/>
                    <a:lstStyle/>
                    <a:p>
                      <a:r>
                        <a:rPr lang="en-US" dirty="0"/>
                        <a:t>Scalable to large social media datasets</a:t>
                      </a:r>
                    </a:p>
                  </a:txBody>
                  <a:tcPr/>
                </a:tc>
                <a:extLst>
                  <a:ext uri="{0D108BD9-81ED-4DB2-BD59-A6C34878D82A}">
                    <a16:rowId xmlns:a16="http://schemas.microsoft.com/office/drawing/2014/main" val="703208926"/>
                  </a:ext>
                </a:extLst>
              </a:tr>
              <a:tr h="933980">
                <a:tc>
                  <a:txBody>
                    <a:bodyPr/>
                    <a:lstStyle/>
                    <a:p>
                      <a:r>
                        <a:rPr lang="en-US" dirty="0"/>
                        <a:t>Feature Extraction</a:t>
                      </a:r>
                    </a:p>
                  </a:txBody>
                  <a:tcPr/>
                </a:tc>
                <a:tc>
                  <a:txBody>
                    <a:bodyPr/>
                    <a:lstStyle/>
                    <a:p>
                      <a:r>
                        <a:rPr lang="en-US" dirty="0"/>
                        <a:t>Simple word matching</a:t>
                      </a:r>
                    </a:p>
                  </a:txBody>
                  <a:tcPr/>
                </a:tc>
                <a:tc>
                  <a:txBody>
                    <a:bodyPr/>
                    <a:lstStyle/>
                    <a:p>
                      <a:r>
                        <a:rPr lang="en-US" dirty="0"/>
                        <a:t>TF-IDF, Bag-of-Words, tokenization, lemmatization</a:t>
                      </a:r>
                    </a:p>
                  </a:txBody>
                  <a:tcPr/>
                </a:tc>
                <a:extLst>
                  <a:ext uri="{0D108BD9-81ED-4DB2-BD59-A6C34878D82A}">
                    <a16:rowId xmlns:a16="http://schemas.microsoft.com/office/drawing/2014/main" val="512798482"/>
                  </a:ext>
                </a:extLst>
              </a:tr>
              <a:tr h="653786">
                <a:tc>
                  <a:txBody>
                    <a:bodyPr/>
                    <a:lstStyle/>
                    <a:p>
                      <a:r>
                        <a:rPr lang="en-US" dirty="0"/>
                        <a:t>Real-Time Detection</a:t>
                      </a:r>
                    </a:p>
                  </a:txBody>
                  <a:tcPr/>
                </a:tc>
                <a:tc>
                  <a:txBody>
                    <a:bodyPr/>
                    <a:lstStyle/>
                    <a:p>
                      <a:r>
                        <a:rPr lang="en-US" dirty="0"/>
                        <a:t>Limited or offline</a:t>
                      </a:r>
                    </a:p>
                  </a:txBody>
                  <a:tcPr/>
                </a:tc>
                <a:tc>
                  <a:txBody>
                    <a:bodyPr/>
                    <a:lstStyle/>
                    <a:p>
                      <a:r>
                        <a:rPr lang="en-US" dirty="0"/>
                        <a:t>Real-time detection of user content</a:t>
                      </a:r>
                    </a:p>
                  </a:txBody>
                  <a:tcPr/>
                </a:tc>
                <a:extLst>
                  <a:ext uri="{0D108BD9-81ED-4DB2-BD59-A6C34878D82A}">
                    <a16:rowId xmlns:a16="http://schemas.microsoft.com/office/drawing/2014/main" val="918247547"/>
                  </a:ext>
                </a:extLst>
              </a:tr>
              <a:tr h="653786">
                <a:tc>
                  <a:txBody>
                    <a:bodyPr/>
                    <a:lstStyle/>
                    <a:p>
                      <a:r>
                        <a:rPr lang="en-US" dirty="0"/>
                        <a:t>User Safety</a:t>
                      </a:r>
                    </a:p>
                  </a:txBody>
                  <a:tcPr/>
                </a:tc>
                <a:tc>
                  <a:txBody>
                    <a:bodyPr/>
                    <a:lstStyle/>
                    <a:p>
                      <a:r>
                        <a:rPr lang="en-US" dirty="0"/>
                        <a:t>Reactive approach</a:t>
                      </a:r>
                    </a:p>
                  </a:txBody>
                  <a:tcPr/>
                </a:tc>
                <a:tc>
                  <a:txBody>
                    <a:bodyPr/>
                    <a:lstStyle/>
                    <a:p>
                      <a:r>
                        <a:rPr lang="en-US" dirty="0"/>
                        <a:t>Proactive prevention of cyberbullying</a:t>
                      </a:r>
                    </a:p>
                  </a:txBody>
                  <a:tcPr/>
                </a:tc>
                <a:extLst>
                  <a:ext uri="{0D108BD9-81ED-4DB2-BD59-A6C34878D82A}">
                    <a16:rowId xmlns:a16="http://schemas.microsoft.com/office/drawing/2014/main" val="750252216"/>
                  </a:ext>
                </a:extLst>
              </a:tr>
            </a:tbl>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Research Gaps</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5</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algn="just" fontAlgn="auto">
              <a:spcAft>
                <a:spcPts val="0"/>
              </a:spcAft>
              <a:defRPr/>
            </a:pPr>
            <a:r>
              <a:rPr lang="en-US" sz="2400" b="1" dirty="0">
                <a:latin typeface="Times New Roman" panose="02020603050405020304" pitchFamily="18" charset="0"/>
                <a:cs typeface="Times New Roman" panose="02020603050405020304" pitchFamily="18" charset="0"/>
              </a:rPr>
              <a:t>Limited Context Awareness </a:t>
            </a:r>
            <a:r>
              <a:rPr lang="en-US" sz="2400" dirty="0">
                <a:latin typeface="Times New Roman" panose="02020603050405020304" pitchFamily="18" charset="0"/>
                <a:cs typeface="Times New Roman" panose="02020603050405020304" pitchFamily="18" charset="0"/>
              </a:rPr>
              <a:t>–Many existing cyberbullying detection systems rely solely on keyword matching, missing nuanced language, sarcasm, slang, and abbreviations.</a:t>
            </a:r>
          </a:p>
          <a:p>
            <a:pPr fontAlgn="auto">
              <a:spcAft>
                <a:spcPts val="0"/>
              </a:spcAft>
              <a:defRPr/>
            </a:pPr>
            <a:r>
              <a:rPr lang="en-US" sz="2400" b="1" dirty="0">
                <a:latin typeface="Times New Roman" panose="02020603050405020304" pitchFamily="18" charset="0"/>
                <a:cs typeface="Times New Roman" panose="02020603050405020304" pitchFamily="18" charset="0"/>
              </a:rPr>
              <a:t>Poor Cross-Platform Generalization</a:t>
            </a:r>
            <a:r>
              <a:rPr lang="en-US" sz="2400" dirty="0">
                <a:latin typeface="Times New Roman" panose="02020603050405020304" pitchFamily="18" charset="0"/>
                <a:cs typeface="Times New Roman" panose="02020603050405020304" pitchFamily="18" charset="0"/>
              </a:rPr>
              <a:t> – Models trained on one platform  may not perform well on others  due to differences in user behavior and language.</a:t>
            </a:r>
          </a:p>
          <a:p>
            <a:pPr fontAlgn="auto">
              <a:spcAft>
                <a:spcPts val="0"/>
              </a:spcAft>
              <a:defRPr/>
            </a:pPr>
            <a:r>
              <a:rPr lang="en-US" sz="2400" b="1" dirty="0">
                <a:latin typeface="Times New Roman" panose="02020603050405020304" pitchFamily="18" charset="0"/>
                <a:cs typeface="Times New Roman" panose="02020603050405020304" pitchFamily="18" charset="0"/>
              </a:rPr>
              <a:t>Small or Imbalanced Datasets</a:t>
            </a:r>
            <a:r>
              <a:rPr lang="en-US" sz="2400" dirty="0">
                <a:latin typeface="Times New Roman" panose="02020603050405020304" pitchFamily="18" charset="0"/>
                <a:cs typeface="Times New Roman" panose="02020603050405020304" pitchFamily="18" charset="0"/>
              </a:rPr>
              <a:t> – Many studies use datasets that are either too small or skewed, reducing the accuracy and reliability of models.</a:t>
            </a:r>
          </a:p>
          <a:p>
            <a:pPr fontAlgn="auto">
              <a:spcAft>
                <a:spcPts val="0"/>
              </a:spcAft>
              <a:defRPr/>
            </a:pPr>
            <a:r>
              <a:rPr lang="en-US" sz="2400" b="1" dirty="0">
                <a:latin typeface="Times New Roman" panose="02020603050405020304" pitchFamily="18" charset="0"/>
                <a:cs typeface="Times New Roman" panose="02020603050405020304" pitchFamily="18" charset="0"/>
              </a:rPr>
              <a:t>Insufficient Evaluation Metrics</a:t>
            </a:r>
            <a:r>
              <a:rPr lang="en-US" sz="2400" dirty="0">
                <a:latin typeface="Times New Roman" panose="02020603050405020304" pitchFamily="18" charset="0"/>
                <a:cs typeface="Times New Roman" panose="02020603050405020304" pitchFamily="18" charset="0"/>
              </a:rPr>
              <a:t> – Some studies only report accuracy, ignoring precision, recall, and F1-score, which are critical for imbalanced datasets. </a:t>
            </a:r>
          </a:p>
          <a:p>
            <a:pPr fontAlgn="auto">
              <a:spcAft>
                <a:spcPts val="0"/>
              </a:spcAft>
              <a:defRPr/>
            </a:pPr>
            <a:r>
              <a:rPr lang="en-US" sz="2400" b="1" dirty="0">
                <a:latin typeface="Times New Roman" panose="02020603050405020304" pitchFamily="18" charset="0"/>
                <a:cs typeface="Times New Roman" panose="02020603050405020304" pitchFamily="18" charset="0"/>
              </a:rPr>
              <a:t>Reliance on Static Keyword Lists</a:t>
            </a:r>
            <a:r>
              <a:rPr lang="en-US" sz="2400" dirty="0">
                <a:latin typeface="Times New Roman" panose="02020603050405020304" pitchFamily="18" charset="0"/>
                <a:cs typeface="Times New Roman" panose="02020603050405020304" pitchFamily="18" charset="0"/>
              </a:rPr>
              <a:t> – Most existing systems cannot detect context-based bullying or evolving slang.</a:t>
            </a:r>
          </a:p>
          <a:p>
            <a:pPr fontAlgn="auto">
              <a:spcAft>
                <a:spcPts val="0"/>
              </a:spcAft>
              <a:defRPr/>
            </a:pPr>
            <a:endParaRPr lang="en-US" sz="2400" dirty="0">
              <a:latin typeface="Times New Roman" panose="02020603050405020304" pitchFamily="18" charset="0"/>
              <a:cs typeface="Times New Roman" panose="02020603050405020304" pitchFamily="18" charset="0"/>
            </a:endParaRPr>
          </a:p>
          <a:p>
            <a:pPr fontAlgn="auto">
              <a:spcAft>
                <a:spcPts val="0"/>
              </a:spcAft>
              <a:defRPr/>
            </a:pPr>
            <a:endParaRPr lang="en-US" sz="2400" dirty="0">
              <a:latin typeface="Times New Roman" panose="02020603050405020304" pitchFamily="18" charset="0"/>
              <a:cs typeface="Times New Roman" panose="02020603050405020304" pitchFamily="18" charset="0"/>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DEPARTMENT OF CSE : MINI PROJECT</a:t>
            </a:r>
            <a:endParaRPr lang="en-US" dirty="0"/>
          </a:p>
        </p:txBody>
      </p:sp>
    </p:spTree>
    <p:extLst>
      <p:ext uri="{BB962C8B-B14F-4D97-AF65-F5344CB8AC3E}">
        <p14:creationId xmlns:p14="http://schemas.microsoft.com/office/powerpoint/2010/main" val="278657901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Problem Statement</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6</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algn="just" fontAlgn="auto">
              <a:spcAft>
                <a:spcPts val="0"/>
              </a:spcAft>
              <a:defRPr/>
            </a:pPr>
            <a:r>
              <a:rPr lang="en-US" sz="2600" dirty="0">
                <a:latin typeface="Times New Roman" panose="02020603050405020304" pitchFamily="18" charset="0"/>
                <a:cs typeface="Times New Roman" panose="02020603050405020304" pitchFamily="18" charset="0"/>
              </a:rPr>
              <a:t>Cyberbullying is a growing issue on social media that negatively impacts mental health and online safety. Existing detection systems are largely manual or rely on simple keyword matching, which leads to low accuracy, delayed responses, and an inability to understand context, slang, sarcasm, or emotions. There is a critical need for a real-time, automated solution that can efficiently analyze user-generated content, accurately identify cyberbullying, and provide explainable results. This project aims to address this challenge by using Natural Language Processing (NLP) techniques and Support Vector Machine (SVM) models to detect harmful content instantly and reliably.</a:t>
            </a: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357155126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24ACF-E93E-429C-B571-59A1E5F854AE}"/>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Proposed Project Objectives</a:t>
            </a:r>
          </a:p>
        </p:txBody>
      </p:sp>
      <p:sp>
        <p:nvSpPr>
          <p:cNvPr id="3" name="Content Placeholder 2">
            <a:extLst>
              <a:ext uri="{FF2B5EF4-FFF2-40B4-BE49-F238E27FC236}">
                <a16:creationId xmlns:a16="http://schemas.microsoft.com/office/drawing/2014/main" id="{0F718A44-8ABC-42DF-9BB1-E9A15FE0BCFB}"/>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fontAlgn="auto">
              <a:spcAft>
                <a:spcPts val="0"/>
              </a:spcAft>
              <a:defRPr/>
            </a:pPr>
            <a:r>
              <a:rPr lang="en-US" sz="2600" dirty="0">
                <a:latin typeface="Times New Roman" panose="02020603050405020304" pitchFamily="18" charset="0"/>
                <a:cs typeface="Times New Roman" panose="02020603050405020304" pitchFamily="18" charset="0"/>
              </a:rPr>
              <a:t>Implement NLP preprocessing to clean and normalize user-generated text.</a:t>
            </a:r>
          </a:p>
          <a:p>
            <a:pPr fontAlgn="auto">
              <a:spcAft>
                <a:spcPts val="0"/>
              </a:spcAft>
              <a:defRPr/>
            </a:pPr>
            <a:r>
              <a:rPr lang="en-US" sz="2600" dirty="0">
                <a:latin typeface="Times New Roman" panose="02020603050405020304" pitchFamily="18" charset="0"/>
                <a:cs typeface="Times New Roman" panose="02020603050405020304" pitchFamily="18" charset="0"/>
              </a:rPr>
              <a:t>Extract features using TF-IDF, Bag-of-Words, and sentiment analysis.</a:t>
            </a:r>
          </a:p>
          <a:p>
            <a:pPr fontAlgn="auto">
              <a:spcAft>
                <a:spcPts val="0"/>
              </a:spcAft>
              <a:defRPr/>
            </a:pPr>
            <a:r>
              <a:rPr lang="en-US" sz="2600" dirty="0">
                <a:latin typeface="Times New Roman" panose="02020603050405020304" pitchFamily="18" charset="0"/>
                <a:cs typeface="Times New Roman" panose="02020603050405020304" pitchFamily="18" charset="0"/>
              </a:rPr>
              <a:t>Train a Support Vector Machine (SVM) classifier to detect cyberbullying.</a:t>
            </a:r>
          </a:p>
          <a:p>
            <a:pPr fontAlgn="auto">
              <a:spcAft>
                <a:spcPts val="0"/>
              </a:spcAft>
              <a:defRPr/>
            </a:pPr>
            <a:r>
              <a:rPr lang="en-US" sz="2600" dirty="0">
                <a:latin typeface="Times New Roman" panose="02020603050405020304" pitchFamily="18" charset="0"/>
                <a:cs typeface="Times New Roman" panose="02020603050405020304" pitchFamily="18" charset="0"/>
              </a:rPr>
              <a:t>Enable real-time detection of harmful content on social media platforms.</a:t>
            </a:r>
          </a:p>
          <a:p>
            <a:pPr fontAlgn="auto">
              <a:spcAft>
                <a:spcPts val="0"/>
              </a:spcAft>
              <a:defRPr/>
            </a:pPr>
            <a:r>
              <a:rPr lang="en-US" sz="2600" dirty="0">
                <a:latin typeface="Times New Roman" panose="02020603050405020304" pitchFamily="18" charset="0"/>
                <a:cs typeface="Times New Roman" panose="02020603050405020304" pitchFamily="18" charset="0"/>
              </a:rPr>
              <a:t>Provide explainable outputs to clarify why content is flagged.</a:t>
            </a:r>
          </a:p>
          <a:p>
            <a:pPr fontAlgn="auto">
              <a:spcAft>
                <a:spcPts val="0"/>
              </a:spcAft>
              <a:defRPr/>
            </a:pPr>
            <a:r>
              <a:rPr lang="en-US" sz="2600" dirty="0">
                <a:latin typeface="Times New Roman" panose="02020603050405020304" pitchFamily="18" charset="0"/>
                <a:cs typeface="Times New Roman" panose="02020603050405020304" pitchFamily="18" charset="0"/>
              </a:rPr>
              <a:t>Deploy a user-friendly web application to handle live and batch data.</a:t>
            </a:r>
          </a:p>
        </p:txBody>
      </p:sp>
      <p:sp>
        <p:nvSpPr>
          <p:cNvPr id="5" name="Slide Number Placeholder 4">
            <a:extLst>
              <a:ext uri="{FF2B5EF4-FFF2-40B4-BE49-F238E27FC236}">
                <a16:creationId xmlns:a16="http://schemas.microsoft.com/office/drawing/2014/main" id="{4F44F6A7-E80B-4C13-8FAA-7BE38155FAB8}"/>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3C13DFD-FA58-48AD-B109-2C30D8D6F058}" type="slidenum">
              <a:rPr lang="en-US" altLang="en-US">
                <a:solidFill>
                  <a:srgbClr val="898989"/>
                </a:solidFill>
              </a:rPr>
              <a:pPr/>
              <a:t>7</a:t>
            </a:fld>
            <a:endParaRPr lang="en-US" altLang="en-US">
              <a:solidFill>
                <a:srgbClr val="898989"/>
              </a:solidFill>
            </a:endParaRPr>
          </a:p>
        </p:txBody>
      </p:sp>
      <p:pic>
        <p:nvPicPr>
          <p:cNvPr id="4" name="Picture 3">
            <a:extLst>
              <a:ext uri="{FF2B5EF4-FFF2-40B4-BE49-F238E27FC236}">
                <a16:creationId xmlns:a16="http://schemas.microsoft.com/office/drawing/2014/main" id="{24D567A5-0A6B-AFA0-3540-53A824978C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Proposed Project Outcomes</a:t>
            </a:r>
          </a:p>
        </p:txBody>
      </p:sp>
      <p:sp>
        <p:nvSpPr>
          <p:cNvPr id="3" name="Content Placeholder 2"/>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r>
              <a:rPr lang="en-US" sz="2400" b="1" dirty="0">
                <a:latin typeface="Times New Roman" panose="02020603050405020304" pitchFamily="18" charset="0"/>
                <a:cs typeface="Times New Roman" panose="02020603050405020304" pitchFamily="18" charset="0"/>
              </a:rPr>
              <a:t>Real-Time Cyberbullying Detection:</a:t>
            </a:r>
            <a:r>
              <a:rPr lang="en-US" sz="2400" dirty="0">
                <a:latin typeface="Times New Roman" panose="02020603050405020304" pitchFamily="18" charset="0"/>
                <a:cs typeface="Times New Roman" panose="02020603050405020304" pitchFamily="18" charset="0"/>
              </a:rPr>
              <a:t> The system can instantly identify and flag harmful or offensive content on social media platforms.</a:t>
            </a:r>
          </a:p>
          <a:p>
            <a:r>
              <a:rPr lang="en-US" sz="2400" b="1" dirty="0">
                <a:latin typeface="Times New Roman" panose="02020603050405020304" pitchFamily="18" charset="0"/>
                <a:cs typeface="Times New Roman" panose="02020603050405020304" pitchFamily="18" charset="0"/>
              </a:rPr>
              <a:t>Improved Accuracy:</a:t>
            </a:r>
            <a:r>
              <a:rPr lang="en-US" sz="2400" dirty="0">
                <a:latin typeface="Times New Roman" panose="02020603050405020304" pitchFamily="18" charset="0"/>
                <a:cs typeface="Times New Roman" panose="02020603050405020304" pitchFamily="18" charset="0"/>
              </a:rPr>
              <a:t> NLP and SVM-based approach ensures higher accuracy compared to keyword-based systems, capturing context, slang, and sarcasm.</a:t>
            </a:r>
          </a:p>
          <a:p>
            <a:r>
              <a:rPr lang="en-US" sz="2400" b="1" dirty="0">
                <a:latin typeface="Times New Roman" panose="02020603050405020304" pitchFamily="18" charset="0"/>
                <a:cs typeface="Times New Roman" panose="02020603050405020304" pitchFamily="18" charset="0"/>
              </a:rPr>
              <a:t>Explainable Results:</a:t>
            </a:r>
            <a:r>
              <a:rPr lang="en-US" sz="2400" dirty="0">
                <a:latin typeface="Times New Roman" panose="02020603050405020304" pitchFamily="18" charset="0"/>
                <a:cs typeface="Times New Roman" panose="02020603050405020304" pitchFamily="18" charset="0"/>
              </a:rPr>
              <a:t> Provides understandable explanations for why content was flagged, helping moderators make informed decisions.</a:t>
            </a:r>
          </a:p>
          <a:p>
            <a:r>
              <a:rPr lang="en-US" sz="2400" b="1" dirty="0">
                <a:latin typeface="Times New Roman" panose="02020603050405020304" pitchFamily="18" charset="0"/>
                <a:cs typeface="Times New Roman" panose="02020603050405020304" pitchFamily="18" charset="0"/>
              </a:rPr>
              <a:t>Scalability:</a:t>
            </a:r>
            <a:r>
              <a:rPr lang="en-US" sz="2400" dirty="0">
                <a:latin typeface="Times New Roman" panose="02020603050405020304" pitchFamily="18" charset="0"/>
                <a:cs typeface="Times New Roman" panose="02020603050405020304" pitchFamily="18" charset="0"/>
              </a:rPr>
              <a:t> Capable of handling large volumes of social media data efficiently.</a:t>
            </a:r>
          </a:p>
          <a:p>
            <a:r>
              <a:rPr lang="en-US" sz="2400" b="1" dirty="0">
                <a:latin typeface="Times New Roman" panose="02020603050405020304" pitchFamily="18" charset="0"/>
                <a:cs typeface="Times New Roman" panose="02020603050405020304" pitchFamily="18" charset="0"/>
              </a:rPr>
              <a:t>User-Friendly Web Application:</a:t>
            </a:r>
            <a:r>
              <a:rPr lang="en-US" sz="2400" dirty="0">
                <a:latin typeface="Times New Roman" panose="02020603050405020304" pitchFamily="18" charset="0"/>
                <a:cs typeface="Times New Roman" panose="02020603050405020304" pitchFamily="18" charset="0"/>
              </a:rPr>
              <a:t> A functional interface for live input or batch processing, making the system accessible to non-technical users.</a:t>
            </a:r>
          </a:p>
          <a:p>
            <a:endParaRPr lang="en-US"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a:pPr/>
              <a:t>8</a:t>
            </a:fld>
            <a:endParaRPr lang="en-US"/>
          </a:p>
        </p:txBody>
      </p:sp>
      <p:pic>
        <p:nvPicPr>
          <p:cNvPr id="6" name="Picture 5">
            <a:extLst>
              <a:ext uri="{FF2B5EF4-FFF2-40B4-BE49-F238E27FC236}">
                <a16:creationId xmlns:a16="http://schemas.microsoft.com/office/drawing/2014/main" id="{DCE2FDDD-2424-0E7F-DD96-199FAF1E2F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Software and Hardware Requirements</a:t>
            </a:r>
          </a:p>
        </p:txBody>
      </p:sp>
      <p:graphicFrame>
        <p:nvGraphicFramePr>
          <p:cNvPr id="4" name="Content Placeholder 3">
            <a:extLst>
              <a:ext uri="{FF2B5EF4-FFF2-40B4-BE49-F238E27FC236}">
                <a16:creationId xmlns:a16="http://schemas.microsoft.com/office/drawing/2014/main" id="{63AF156D-3B91-B56C-93C6-C5E9E592AA05}"/>
              </a:ext>
            </a:extLst>
          </p:cNvPr>
          <p:cNvGraphicFramePr>
            <a:graphicFrameLocks noGrp="1"/>
          </p:cNvGraphicFramePr>
          <p:nvPr>
            <p:ph idx="1"/>
            <p:extLst>
              <p:ext uri="{D42A27DB-BD31-4B8C-83A1-F6EECF244321}">
                <p14:modId xmlns:p14="http://schemas.microsoft.com/office/powerpoint/2010/main" val="3392416074"/>
              </p:ext>
            </p:extLst>
          </p:nvPr>
        </p:nvGraphicFramePr>
        <p:xfrm>
          <a:off x="457200" y="1600200"/>
          <a:ext cx="8229600" cy="26619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3923388625"/>
                    </a:ext>
                  </a:extLst>
                </a:gridCol>
                <a:gridCol w="4114800">
                  <a:extLst>
                    <a:ext uri="{9D8B030D-6E8A-4147-A177-3AD203B41FA5}">
                      <a16:colId xmlns:a16="http://schemas.microsoft.com/office/drawing/2014/main" val="230463489"/>
                    </a:ext>
                  </a:extLst>
                </a:gridCol>
              </a:tblGrid>
              <a:tr h="370840">
                <a:tc>
                  <a:txBody>
                    <a:bodyPr/>
                    <a:lstStyle/>
                    <a:p>
                      <a:r>
                        <a:rPr lang="en-US" dirty="0"/>
                        <a:t>Software</a:t>
                      </a:r>
                    </a:p>
                  </a:txBody>
                  <a:tcPr/>
                </a:tc>
                <a:tc>
                  <a:txBody>
                    <a:bodyPr/>
                    <a:lstStyle/>
                    <a:p>
                      <a:r>
                        <a:rPr lang="en-US" dirty="0"/>
                        <a:t>Hardware</a:t>
                      </a:r>
                    </a:p>
                  </a:txBody>
                  <a:tcPr/>
                </a:tc>
                <a:extLst>
                  <a:ext uri="{0D108BD9-81ED-4DB2-BD59-A6C34878D82A}">
                    <a16:rowId xmlns:a16="http://schemas.microsoft.com/office/drawing/2014/main" val="4156807601"/>
                  </a:ext>
                </a:extLst>
              </a:tr>
              <a:tr h="370840">
                <a:tc>
                  <a:txBody>
                    <a:bodyPr/>
                    <a:lstStyle/>
                    <a:p>
                      <a:r>
                        <a:rPr lang="en-US" dirty="0"/>
                        <a:t>Programming Language: Python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Processor: Intel i5 or higher</a:t>
                      </a:r>
                    </a:p>
                    <a:p>
                      <a:endParaRPr lang="en-US" dirty="0"/>
                    </a:p>
                  </a:txBody>
                  <a:tcPr/>
                </a:tc>
                <a:extLst>
                  <a:ext uri="{0D108BD9-81ED-4DB2-BD59-A6C34878D82A}">
                    <a16:rowId xmlns:a16="http://schemas.microsoft.com/office/drawing/2014/main" val="3909838148"/>
                  </a:ext>
                </a:extLst>
              </a:tr>
              <a:tr h="370840">
                <a:tc>
                  <a:txBody>
                    <a:bodyPr/>
                    <a:lstStyle/>
                    <a:p>
                      <a:r>
                        <a:rPr lang="en-US" b="0" dirty="0"/>
                        <a:t>Development Environment</a:t>
                      </a:r>
                      <a:r>
                        <a:rPr lang="en-US" b="1" dirty="0"/>
                        <a:t>:</a:t>
                      </a:r>
                      <a:r>
                        <a:rPr lang="en-US" dirty="0"/>
                        <a:t> </a:t>
                      </a:r>
                      <a:r>
                        <a:rPr lang="en-US" dirty="0" err="1"/>
                        <a:t>Jupyter</a:t>
                      </a:r>
                      <a:r>
                        <a:rPr lang="en-US" dirty="0"/>
                        <a:t> Notebook or VS Code</a:t>
                      </a:r>
                    </a:p>
                  </a:txBody>
                  <a:tcPr/>
                </a:tc>
                <a:tc>
                  <a:txBody>
                    <a:bodyPr/>
                    <a:lstStyle/>
                    <a:p>
                      <a:r>
                        <a:rPr lang="en-US" dirty="0"/>
                        <a:t>RAM: 8 GB or higher</a:t>
                      </a:r>
                    </a:p>
                  </a:txBody>
                  <a:tcPr/>
                </a:tc>
                <a:extLst>
                  <a:ext uri="{0D108BD9-81ED-4DB2-BD59-A6C34878D82A}">
                    <a16:rowId xmlns:a16="http://schemas.microsoft.com/office/drawing/2014/main" val="1891626577"/>
                  </a:ext>
                </a:extLst>
              </a:tr>
              <a:tr h="370840">
                <a:tc>
                  <a:txBody>
                    <a:bodyPr/>
                    <a:lstStyle/>
                    <a:p>
                      <a:r>
                        <a:rPr lang="en-US" dirty="0" err="1"/>
                        <a:t>Streamlit</a:t>
                      </a:r>
                      <a:r>
                        <a:rPr lang="en-US" dirty="0"/>
                        <a:t>/Flask for UI</a:t>
                      </a:r>
                    </a:p>
                  </a:txBody>
                  <a:tcPr/>
                </a:tc>
                <a:tc>
                  <a:txBody>
                    <a:bodyPr/>
                    <a:lstStyle/>
                    <a:p>
                      <a:r>
                        <a:rPr lang="en-US" dirty="0"/>
                        <a:t>Storage: 100 GB</a:t>
                      </a:r>
                    </a:p>
                  </a:txBody>
                  <a:tcPr/>
                </a:tc>
                <a:extLst>
                  <a:ext uri="{0D108BD9-81ED-4DB2-BD59-A6C34878D82A}">
                    <a16:rowId xmlns:a16="http://schemas.microsoft.com/office/drawing/2014/main" val="128243813"/>
                  </a:ext>
                </a:extLst>
              </a:tr>
              <a:tr h="370840">
                <a:tc>
                  <a:txBody>
                    <a:bodyPr/>
                    <a:lstStyle/>
                    <a:p>
                      <a:r>
                        <a:rPr lang="en-US" dirty="0"/>
                        <a:t>Libraries: </a:t>
                      </a:r>
                      <a:r>
                        <a:rPr lang="en-US" sz="1800" kern="1200" dirty="0">
                          <a:solidFill>
                            <a:schemeClr val="dk1"/>
                          </a:solidFill>
                          <a:latin typeface="+mn-lt"/>
                          <a:ea typeface="+mn-ea"/>
                          <a:cs typeface="+mn-cs"/>
                        </a:rPr>
                        <a:t>scikit-learn</a:t>
                      </a:r>
                      <a:r>
                        <a:rPr lang="en-US" dirty="0"/>
                        <a:t>, </a:t>
                      </a:r>
                      <a:r>
                        <a:rPr lang="en-US" sz="1800" kern="1200" dirty="0" err="1">
                          <a:solidFill>
                            <a:schemeClr val="dk1"/>
                          </a:solidFill>
                          <a:latin typeface="+mn-lt"/>
                          <a:ea typeface="+mn-ea"/>
                          <a:cs typeface="+mn-cs"/>
                        </a:rPr>
                        <a:t>nltk</a:t>
                      </a:r>
                      <a:r>
                        <a:rPr lang="en-US" dirty="0"/>
                        <a:t>, </a:t>
                      </a:r>
                      <a:r>
                        <a:rPr lang="en-US" sz="1800" kern="1200" dirty="0">
                          <a:solidFill>
                            <a:schemeClr val="dk1"/>
                          </a:solidFill>
                          <a:latin typeface="+mn-lt"/>
                          <a:ea typeface="+mn-ea"/>
                          <a:cs typeface="+mn-cs"/>
                        </a:rPr>
                        <a:t>pandas</a:t>
                      </a:r>
                      <a:r>
                        <a:rPr lang="en-US" dirty="0"/>
                        <a:t>, </a:t>
                      </a:r>
                      <a:r>
                        <a:rPr lang="en-US" sz="1800" kern="1200" dirty="0" err="1">
                          <a:solidFill>
                            <a:schemeClr val="dk1"/>
                          </a:solidFill>
                          <a:latin typeface="+mn-lt"/>
                          <a:ea typeface="+mn-ea"/>
                          <a:cs typeface="+mn-cs"/>
                        </a:rPr>
                        <a:t>numpy</a:t>
                      </a:r>
                      <a:r>
                        <a:rPr lang="en-US" dirty="0"/>
                        <a:t>, </a:t>
                      </a:r>
                      <a:r>
                        <a:rPr lang="en-US" sz="1800" kern="1200" dirty="0">
                          <a:solidFill>
                            <a:schemeClr val="dk1"/>
                          </a:solidFill>
                          <a:latin typeface="+mn-lt"/>
                          <a:ea typeface="+mn-ea"/>
                          <a:cs typeface="+mn-cs"/>
                        </a:rPr>
                        <a:t>matplotlib</a:t>
                      </a:r>
                      <a:r>
                        <a:rPr lang="en-US" dirty="0"/>
                        <a:t>, </a:t>
                      </a:r>
                      <a:r>
                        <a:rPr lang="en-US" sz="1800" kern="1200" dirty="0">
                          <a:solidFill>
                            <a:schemeClr val="dk1"/>
                          </a:solidFill>
                          <a:latin typeface="+mn-lt"/>
                          <a:ea typeface="+mn-ea"/>
                          <a:cs typeface="+mn-cs"/>
                        </a:rPr>
                        <a:t>seaborn</a:t>
                      </a:r>
                      <a:r>
                        <a:rPr lang="en-US" dirty="0"/>
                        <a:t> </a:t>
                      </a:r>
                    </a:p>
                  </a:txBody>
                  <a:tcPr/>
                </a:tc>
                <a:tc>
                  <a:txBody>
                    <a:bodyPr/>
                    <a:lstStyle/>
                    <a:p>
                      <a:r>
                        <a:rPr lang="en-US" dirty="0"/>
                        <a:t>GPU (optional for faster feature extraction and training)</a:t>
                      </a:r>
                    </a:p>
                  </a:txBody>
                  <a:tcPr/>
                </a:tc>
                <a:extLst>
                  <a:ext uri="{0D108BD9-81ED-4DB2-BD59-A6C34878D82A}">
                    <a16:rowId xmlns:a16="http://schemas.microsoft.com/office/drawing/2014/main" val="143991769"/>
                  </a:ext>
                </a:extLst>
              </a:tr>
            </a:tbl>
          </a:graphicData>
        </a:graphic>
      </p:graphicFrame>
      <p:sp>
        <p:nvSpPr>
          <p:cNvPr id="5" name="Slide Number Placeholder 4"/>
          <p:cNvSpPr>
            <a:spLocks noGrp="1"/>
          </p:cNvSpPr>
          <p:nvPr>
            <p:ph type="sldNum" sz="quarter" idx="12"/>
          </p:nvPr>
        </p:nvSpPr>
        <p:spPr/>
        <p:txBody>
          <a:bodyPr/>
          <a:lstStyle/>
          <a:p>
            <a:fld id="{B6F15528-21DE-4FAA-801E-634DDDAF4B2B}" type="slidenum">
              <a:rPr lang="en-US"/>
              <a:pPr/>
              <a:t>9</a:t>
            </a:fld>
            <a:endParaRPr lang="en-US"/>
          </a:p>
        </p:txBody>
      </p:sp>
      <p:pic>
        <p:nvPicPr>
          <p:cNvPr id="6" name="Picture 5">
            <a:extLst>
              <a:ext uri="{FF2B5EF4-FFF2-40B4-BE49-F238E27FC236}">
                <a16:creationId xmlns:a16="http://schemas.microsoft.com/office/drawing/2014/main" id="{0AC52FED-457C-B8CE-592D-306D226723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824" y="272283"/>
            <a:ext cx="7638305" cy="611161"/>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Architectural Diagram</a:t>
            </a:r>
          </a:p>
        </p:txBody>
      </p:sp>
      <p:sp>
        <p:nvSpPr>
          <p:cNvPr id="5" name="Slide Number Placeholder 4"/>
          <p:cNvSpPr>
            <a:spLocks noGrp="1"/>
          </p:cNvSpPr>
          <p:nvPr>
            <p:ph type="sldNum" sz="quarter" idx="12"/>
          </p:nvPr>
        </p:nvSpPr>
        <p:spPr>
          <a:xfrm>
            <a:off x="7010400" y="6492875"/>
            <a:ext cx="2133600" cy="365125"/>
          </a:xfrm>
        </p:spPr>
        <p:txBody>
          <a:bodyPr/>
          <a:lstStyle/>
          <a:p>
            <a:fld id="{B6F15528-21DE-4FAA-801E-634DDDAF4B2B}" type="slidenum">
              <a:rPr lang="en-US"/>
              <a:pPr/>
              <a:t>10</a:t>
            </a:fld>
            <a:endParaRPr lang="en-US"/>
          </a:p>
        </p:txBody>
      </p:sp>
      <p:sp>
        <p:nvSpPr>
          <p:cNvPr id="34" name="Content Placeholder 33"/>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6A6DD126-8543-7714-EE4A-27D656E670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6"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a:p>
          <a:p>
            <a:pPr fontAlgn="auto">
              <a:spcAft>
                <a:spcPts val="0"/>
              </a:spcAft>
              <a:buFont typeface="Arial" panose="020B0604020202020204" pitchFamily="34" charset="0"/>
              <a:buNone/>
              <a:defRPr/>
            </a:pPr>
            <a:endParaRPr lang="en-US" sz="2800" dirty="0">
              <a:cs typeface="Calibri"/>
            </a:endParaRPr>
          </a:p>
        </p:txBody>
      </p:sp>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pic>
        <p:nvPicPr>
          <p:cNvPr id="7" name="Picture 6">
            <a:extLst>
              <a:ext uri="{FF2B5EF4-FFF2-40B4-BE49-F238E27FC236}">
                <a16:creationId xmlns:a16="http://schemas.microsoft.com/office/drawing/2014/main" id="{ED559644-A3BB-73E8-9BC4-295DAE17AE40}"/>
              </a:ext>
            </a:extLst>
          </p:cNvPr>
          <p:cNvPicPr>
            <a:picLocks noChangeAspect="1"/>
          </p:cNvPicPr>
          <p:nvPr/>
        </p:nvPicPr>
        <p:blipFill>
          <a:blip r:embed="rId3"/>
          <a:stretch>
            <a:fillRect/>
          </a:stretch>
        </p:blipFill>
        <p:spPr>
          <a:xfrm>
            <a:off x="504257" y="1699970"/>
            <a:ext cx="8135485" cy="3862629"/>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PROPOSED METHOD AND ALGORITHMS</a:t>
            </a:r>
          </a:p>
        </p:txBody>
      </p:sp>
      <p:sp>
        <p:nvSpPr>
          <p:cNvPr id="5" name="Slide Number Placeholder 4"/>
          <p:cNvSpPr>
            <a:spLocks noGrp="1"/>
          </p:cNvSpPr>
          <p:nvPr>
            <p:ph type="sldNum" sz="quarter" idx="12"/>
          </p:nvPr>
        </p:nvSpPr>
        <p:spPr/>
        <p:txBody>
          <a:bodyPr/>
          <a:lstStyle/>
          <a:p>
            <a:fld id="{B6F15528-21DE-4FAA-801E-634DDDAF4B2B}" type="slidenum">
              <a:rPr lang="en-US"/>
              <a:pPr/>
              <a:t>11</a:t>
            </a:fld>
            <a:endParaRPr lang="en-US"/>
          </a:p>
        </p:txBody>
      </p:sp>
      <p:sp>
        <p:nvSpPr>
          <p:cNvPr id="8" name="Content Placeholder 7"/>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
        <p:nvSpPr>
          <p:cNvPr id="10"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buFont typeface="Arial" panose="020B0604020202020204" pitchFamily="34" charset="0"/>
              <a:buNone/>
              <a:defRPr/>
            </a:pPr>
            <a:r>
              <a:rPr lang="en-US" sz="2400" b="1" dirty="0">
                <a:latin typeface="Times New Roman" panose="02020603050405020304" pitchFamily="18" charset="0"/>
                <a:cs typeface="Times New Roman" panose="02020603050405020304" pitchFamily="18" charset="0"/>
              </a:rPr>
              <a:t>Proposed Method:</a:t>
            </a:r>
          </a:p>
          <a:p>
            <a:pPr algn="just" fontAlgn="auto">
              <a:spcAft>
                <a:spcPts val="0"/>
              </a:spcAft>
              <a:defRPr/>
            </a:pPr>
            <a:r>
              <a:rPr lang="en-US" sz="2400" b="1" dirty="0">
                <a:latin typeface="Times New Roman" panose="02020603050405020304" pitchFamily="18" charset="0"/>
                <a:cs typeface="Times New Roman" panose="02020603050405020304" pitchFamily="18" charset="0"/>
              </a:rPr>
              <a:t>Text Preprocessing</a:t>
            </a:r>
            <a:r>
              <a:rPr lang="en-US" sz="2400" dirty="0">
                <a:latin typeface="Times New Roman" panose="02020603050405020304" pitchFamily="18" charset="0"/>
                <a:cs typeface="Times New Roman" panose="02020603050405020304" pitchFamily="18" charset="0"/>
              </a:rPr>
              <a:t> – Raw text is cleaned by converting to lowercase, removing punctuation, URLs, </a:t>
            </a:r>
            <a:r>
              <a:rPr lang="en-US" sz="2400" dirty="0" err="1">
                <a:latin typeface="Times New Roman" panose="02020603050405020304" pitchFamily="18" charset="0"/>
                <a:cs typeface="Times New Roman" panose="02020603050405020304" pitchFamily="18" charset="0"/>
              </a:rPr>
              <a:t>stopwords</a:t>
            </a:r>
            <a:r>
              <a:rPr lang="en-US" sz="2400" dirty="0">
                <a:latin typeface="Times New Roman" panose="02020603050405020304" pitchFamily="18" charset="0"/>
                <a:cs typeface="Times New Roman" panose="02020603050405020304" pitchFamily="18" charset="0"/>
              </a:rPr>
              <a:t>, and applying tokenization and lemmatization</a:t>
            </a:r>
          </a:p>
          <a:p>
            <a:pPr algn="just" fontAlgn="auto">
              <a:spcAft>
                <a:spcPts val="0"/>
              </a:spcAft>
              <a:defRPr/>
            </a:pPr>
            <a:r>
              <a:rPr lang="en-US" sz="2400" b="1" dirty="0">
                <a:latin typeface="Times New Roman" panose="02020603050405020304" pitchFamily="18" charset="0"/>
                <a:cs typeface="Times New Roman" panose="02020603050405020304" pitchFamily="18" charset="0"/>
              </a:rPr>
              <a:t>Feature Extraction</a:t>
            </a:r>
            <a:r>
              <a:rPr lang="en-US" sz="2400" dirty="0">
                <a:latin typeface="Times New Roman" panose="02020603050405020304" pitchFamily="18" charset="0"/>
                <a:cs typeface="Times New Roman" panose="02020603050405020304" pitchFamily="18" charset="0"/>
              </a:rPr>
              <a:t> – Text is transformed into numerical features using TF-IDF, Bag-of-Words, and additional context features like sentiment, sarcasm indicators, and personal attack markers.</a:t>
            </a:r>
          </a:p>
          <a:p>
            <a:pPr algn="just" fontAlgn="auto">
              <a:spcAft>
                <a:spcPts val="0"/>
              </a:spcAft>
              <a:defRPr/>
            </a:pPr>
            <a:r>
              <a:rPr lang="en-US" sz="2400" b="1" dirty="0">
                <a:latin typeface="Times New Roman" panose="02020603050405020304" pitchFamily="18" charset="0"/>
                <a:cs typeface="Times New Roman" panose="02020603050405020304" pitchFamily="18" charset="0"/>
              </a:rPr>
              <a:t>Machine Learning Prediction</a:t>
            </a:r>
            <a:r>
              <a:rPr lang="en-US" sz="2400" dirty="0">
                <a:latin typeface="Times New Roman" panose="02020603050405020304" pitchFamily="18" charset="0"/>
                <a:cs typeface="Times New Roman" panose="02020603050405020304" pitchFamily="18" charset="0"/>
              </a:rPr>
              <a:t> – A Support Vector Machine (SVM) classifier analyzes the features to predict whether a message is cyberbullying or harmless.</a:t>
            </a:r>
          </a:p>
          <a:p>
            <a:pPr algn="just" fontAlgn="auto">
              <a:spcAft>
                <a:spcPts val="0"/>
              </a:spcAft>
              <a:defRPr/>
            </a:pPr>
            <a:r>
              <a:rPr lang="en-US" sz="2400" b="1" dirty="0">
                <a:latin typeface="Times New Roman" panose="02020603050405020304" pitchFamily="18" charset="0"/>
                <a:cs typeface="Times New Roman" panose="02020603050405020304" pitchFamily="18" charset="0"/>
              </a:rPr>
              <a:t>Output and Alerts</a:t>
            </a:r>
            <a:r>
              <a:rPr lang="en-US" sz="2400" dirty="0">
                <a:latin typeface="Times New Roman" panose="02020603050405020304" pitchFamily="18" charset="0"/>
                <a:cs typeface="Times New Roman" panose="02020603050405020304" pitchFamily="18" charset="0"/>
              </a:rPr>
              <a:t> – The system flags harmful content, generates explainable results showing why it was classified as bullying, and displays the output in a web application interface.</a:t>
            </a: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75962246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3A26E-003C-ADAF-C957-20903FD48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B3567-A667-4C9E-6139-30C53F4A5AF2}"/>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PROPOSED METHOD AND ALGORITHMS</a:t>
            </a:r>
          </a:p>
        </p:txBody>
      </p:sp>
      <p:sp>
        <p:nvSpPr>
          <p:cNvPr id="5" name="Slide Number Placeholder 4">
            <a:extLst>
              <a:ext uri="{FF2B5EF4-FFF2-40B4-BE49-F238E27FC236}">
                <a16:creationId xmlns:a16="http://schemas.microsoft.com/office/drawing/2014/main" id="{BE7BF0C0-A0FB-9534-0099-BB5163F3CC69}"/>
              </a:ext>
            </a:extLst>
          </p:cNvPr>
          <p:cNvSpPr>
            <a:spLocks noGrp="1"/>
          </p:cNvSpPr>
          <p:nvPr>
            <p:ph type="sldNum" sz="quarter" idx="12"/>
          </p:nvPr>
        </p:nvSpPr>
        <p:spPr/>
        <p:txBody>
          <a:bodyPr/>
          <a:lstStyle/>
          <a:p>
            <a:fld id="{B6F15528-21DE-4FAA-801E-634DDDAF4B2B}" type="slidenum">
              <a:rPr lang="en-US"/>
              <a:pPr/>
              <a:t>12</a:t>
            </a:fld>
            <a:endParaRPr lang="en-US"/>
          </a:p>
        </p:txBody>
      </p:sp>
      <p:sp>
        <p:nvSpPr>
          <p:cNvPr id="8" name="Content Placeholder 7">
            <a:extLst>
              <a:ext uri="{FF2B5EF4-FFF2-40B4-BE49-F238E27FC236}">
                <a16:creationId xmlns:a16="http://schemas.microsoft.com/office/drawing/2014/main" id="{0239C5CA-E299-589C-CD27-691136D8D729}"/>
              </a:ext>
            </a:extLst>
          </p:cNvPr>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8B389843-B5D5-205F-8CC5-FA8E83CE82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BA6DBE00-A193-039A-654B-CCD6AA2E8B2E}"/>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
        <p:nvSpPr>
          <p:cNvPr id="10" name="Content Placeholder 2">
            <a:extLst>
              <a:ext uri="{FF2B5EF4-FFF2-40B4-BE49-F238E27FC236}">
                <a16:creationId xmlns:a16="http://schemas.microsoft.com/office/drawing/2014/main" id="{A6206475-6A35-2693-096F-56E5B2B434B9}"/>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buFont typeface="Arial" panose="020B0604020202020204" pitchFamily="34" charset="0"/>
              <a:buNone/>
              <a:defRPr/>
            </a:pPr>
            <a:r>
              <a:rPr lang="en-US" sz="2400" b="1" dirty="0">
                <a:latin typeface="Times New Roman" panose="02020603050405020304" pitchFamily="18" charset="0"/>
                <a:cs typeface="Times New Roman" panose="02020603050405020304" pitchFamily="18" charset="0"/>
              </a:rPr>
              <a:t>Algorithms Used:</a:t>
            </a:r>
          </a:p>
          <a:p>
            <a:pPr algn="just" fontAlgn="auto">
              <a:spcAft>
                <a:spcPts val="0"/>
              </a:spcAft>
              <a:defRPr/>
            </a:pPr>
            <a:r>
              <a:rPr lang="en-US" sz="2400" b="1" dirty="0">
                <a:latin typeface="Times New Roman" panose="02020603050405020304" pitchFamily="18" charset="0"/>
                <a:cs typeface="Times New Roman" panose="02020603050405020304" pitchFamily="18" charset="0"/>
              </a:rPr>
              <a:t>Support Vector Machine (SVM)</a:t>
            </a:r>
            <a:r>
              <a:rPr lang="en-US" sz="2400" dirty="0">
                <a:latin typeface="Times New Roman" panose="02020603050405020304" pitchFamily="18" charset="0"/>
                <a:cs typeface="Times New Roman" panose="02020603050405020304" pitchFamily="18" charset="0"/>
              </a:rPr>
              <a:t> – Supervised machine learning algorithm that classifies content into cyberbullying or non-cyberbullying based on extracted features.</a:t>
            </a:r>
          </a:p>
          <a:p>
            <a:pPr algn="just" fontAlgn="auto">
              <a:spcAft>
                <a:spcPts val="0"/>
              </a:spcAft>
              <a:defRPr/>
            </a:pPr>
            <a:r>
              <a:rPr lang="en-US" sz="2400" b="1" dirty="0">
                <a:latin typeface="Times New Roman" panose="02020603050405020304" pitchFamily="18" charset="0"/>
                <a:cs typeface="Times New Roman" panose="02020603050405020304" pitchFamily="18" charset="0"/>
              </a:rPr>
              <a:t>Natural Language Processing (NLP) Techniques</a:t>
            </a:r>
            <a:r>
              <a:rPr lang="en-US" sz="2400" dirty="0">
                <a:latin typeface="Times New Roman" panose="02020603050405020304" pitchFamily="18" charset="0"/>
                <a:cs typeface="Times New Roman" panose="02020603050405020304" pitchFamily="18" charset="0"/>
              </a:rPr>
              <a:t> – Includes tokenization, lemmatization, </a:t>
            </a:r>
            <a:r>
              <a:rPr lang="en-US" sz="2400" dirty="0" err="1">
                <a:latin typeface="Times New Roman" panose="02020603050405020304" pitchFamily="18" charset="0"/>
                <a:cs typeface="Times New Roman" panose="02020603050405020304" pitchFamily="18" charset="0"/>
              </a:rPr>
              <a:t>stopword</a:t>
            </a:r>
            <a:r>
              <a:rPr lang="en-US" sz="2400" dirty="0">
                <a:latin typeface="Times New Roman" panose="02020603050405020304" pitchFamily="18" charset="0"/>
                <a:cs typeface="Times New Roman" panose="02020603050405020304" pitchFamily="18" charset="0"/>
              </a:rPr>
              <a:t> removal, and TF-IDF for converting text into analyzable numerical data.</a:t>
            </a:r>
          </a:p>
          <a:p>
            <a:pPr algn="just" fontAlgn="auto">
              <a:spcAft>
                <a:spcPts val="0"/>
              </a:spcAft>
              <a:defRPr/>
            </a:pPr>
            <a:r>
              <a:rPr lang="en-US" sz="2400" b="1" dirty="0">
                <a:latin typeface="Times New Roman" panose="02020603050405020304" pitchFamily="18" charset="0"/>
                <a:cs typeface="Times New Roman" panose="02020603050405020304" pitchFamily="18" charset="0"/>
              </a:rPr>
              <a:t>Sentiment and Emotion Analysis</a:t>
            </a:r>
            <a:r>
              <a:rPr lang="en-US" sz="2400" dirty="0">
                <a:latin typeface="Times New Roman" panose="02020603050405020304" pitchFamily="18" charset="0"/>
                <a:cs typeface="Times New Roman" panose="02020603050405020304" pitchFamily="18" charset="0"/>
              </a:rPr>
              <a:t> – Detects emotional cues in text that may indicate harmful intent.</a:t>
            </a:r>
          </a:p>
          <a:p>
            <a:pPr algn="just" fontAlgn="auto">
              <a:spcAft>
                <a:spcPts val="0"/>
              </a:spcAft>
              <a:defRPr/>
            </a:pPr>
            <a:r>
              <a:rPr lang="en-US" sz="2400" b="1" dirty="0" err="1">
                <a:latin typeface="Times New Roman" panose="02020603050405020304" pitchFamily="18" charset="0"/>
                <a:cs typeface="Times New Roman" panose="02020603050405020304" pitchFamily="18" charset="0"/>
              </a:rPr>
              <a:t>Streamlit</a:t>
            </a:r>
            <a:r>
              <a:rPr lang="en-US" sz="2400" b="1" dirty="0">
                <a:latin typeface="Times New Roman" panose="02020603050405020304" pitchFamily="18" charset="0"/>
                <a:cs typeface="Times New Roman" panose="02020603050405020304" pitchFamily="18" charset="0"/>
              </a:rPr>
              <a:t> Interface</a:t>
            </a:r>
            <a:r>
              <a:rPr lang="en-US" sz="2400" dirty="0">
                <a:latin typeface="Times New Roman" panose="02020603050405020304" pitchFamily="18" charset="0"/>
                <a:cs typeface="Times New Roman" panose="02020603050405020304" pitchFamily="18" charset="0"/>
              </a:rPr>
              <a:t> – For deploying a user-friendly web app that handles real-time and batch content analysis. </a:t>
            </a:r>
          </a:p>
          <a:p>
            <a:pPr algn="just" fontAlgn="auto">
              <a:spcAft>
                <a:spcPts val="0"/>
              </a:spcAft>
              <a:defRPr/>
            </a:pPr>
            <a:endParaRPr lang="en-US" sz="2400" dirty="0">
              <a:latin typeface="Times New Roman" panose="02020603050405020304" pitchFamily="18" charset="0"/>
              <a:cs typeface="Times New Roman" panose="02020603050405020304" pitchFamily="18" charset="0"/>
            </a:endParaRPr>
          </a:p>
        </p:txBody>
      </p:sp>
      <p:sp>
        <p:nvSpPr>
          <p:cNvPr id="11" name="Footer Placeholder 6">
            <a:extLst>
              <a:ext uri="{FF2B5EF4-FFF2-40B4-BE49-F238E27FC236}">
                <a16:creationId xmlns:a16="http://schemas.microsoft.com/office/drawing/2014/main" id="{5EE26D92-11DB-4B96-FFB9-DFEEEB84E1BB}"/>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295332108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Results</a:t>
            </a:r>
          </a:p>
        </p:txBody>
      </p:sp>
      <p:sp>
        <p:nvSpPr>
          <p:cNvPr id="5" name="Slide Number Placeholder 4"/>
          <p:cNvSpPr>
            <a:spLocks noGrp="1"/>
          </p:cNvSpPr>
          <p:nvPr>
            <p:ph type="sldNum" sz="quarter" idx="12"/>
          </p:nvPr>
        </p:nvSpPr>
        <p:spPr/>
        <p:txBody>
          <a:bodyPr/>
          <a:lstStyle/>
          <a:p>
            <a:fld id="{B6F15528-21DE-4FAA-801E-634DDDAF4B2B}" type="slidenum">
              <a:rPr lang="en-US"/>
              <a:pPr/>
              <a:t>13</a:t>
            </a:fld>
            <a:endParaRPr lang="en-US"/>
          </a:p>
        </p:txBody>
      </p:sp>
      <p:pic>
        <p:nvPicPr>
          <p:cNvPr id="6" name="Content Placeholder 5">
            <a:extLst>
              <a:ext uri="{FF2B5EF4-FFF2-40B4-BE49-F238E27FC236}">
                <a16:creationId xmlns:a16="http://schemas.microsoft.com/office/drawing/2014/main" id="{C1D9650F-B82F-53BD-2B7A-EAFF007244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57200" y="1773500"/>
            <a:ext cx="8229600" cy="417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
        <p:nvSpPr>
          <p:cNvPr id="9"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a:p>
          <a:p>
            <a:pPr fontAlgn="auto">
              <a:spcAft>
                <a:spcPts val="0"/>
              </a:spcAft>
              <a:buFont typeface="Arial" panose="020B0604020202020204" pitchFamily="34" charset="0"/>
              <a:buNone/>
              <a:defRPr/>
            </a:pPr>
            <a:endParaRPr lang="en-US" sz="2800" dirty="0">
              <a:cs typeface="Calibri"/>
            </a:endParaRPr>
          </a:p>
        </p:txBody>
      </p:sp>
      <p:sp>
        <p:nvSpPr>
          <p:cNvPr id="10"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pic>
        <p:nvPicPr>
          <p:cNvPr id="12" name="Picture 11">
            <a:extLst>
              <a:ext uri="{FF2B5EF4-FFF2-40B4-BE49-F238E27FC236}">
                <a16:creationId xmlns:a16="http://schemas.microsoft.com/office/drawing/2014/main" id="{D5274CAF-CB23-8C27-DCEC-B4956F71A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915" y="1219200"/>
            <a:ext cx="8651485" cy="4733662"/>
          </a:xfrm>
          <a:prstGeom prst="rect">
            <a:avLst/>
          </a:prstGeom>
        </p:spPr>
      </p:pic>
    </p:spTree>
    <p:extLst>
      <p:ext uri="{BB962C8B-B14F-4D97-AF65-F5344CB8AC3E}">
        <p14:creationId xmlns:p14="http://schemas.microsoft.com/office/powerpoint/2010/main" val="172966090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40F85-B762-5A99-0B33-FA399E320F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359A46-C89C-E88D-C428-4D92C9A3F9C1}"/>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Results</a:t>
            </a:r>
          </a:p>
        </p:txBody>
      </p:sp>
      <p:sp>
        <p:nvSpPr>
          <p:cNvPr id="5" name="Slide Number Placeholder 4">
            <a:extLst>
              <a:ext uri="{FF2B5EF4-FFF2-40B4-BE49-F238E27FC236}">
                <a16:creationId xmlns:a16="http://schemas.microsoft.com/office/drawing/2014/main" id="{6EB02F88-1834-E82E-DDD0-6B8CBA1B0ECD}"/>
              </a:ext>
            </a:extLst>
          </p:cNvPr>
          <p:cNvSpPr>
            <a:spLocks noGrp="1"/>
          </p:cNvSpPr>
          <p:nvPr>
            <p:ph type="sldNum" sz="quarter" idx="12"/>
          </p:nvPr>
        </p:nvSpPr>
        <p:spPr/>
        <p:txBody>
          <a:bodyPr/>
          <a:lstStyle/>
          <a:p>
            <a:fld id="{B6F15528-21DE-4FAA-801E-634DDDAF4B2B}" type="slidenum">
              <a:rPr lang="en-US"/>
              <a:pPr/>
              <a:t>14</a:t>
            </a:fld>
            <a:endParaRPr lang="en-US"/>
          </a:p>
        </p:txBody>
      </p:sp>
      <p:pic>
        <p:nvPicPr>
          <p:cNvPr id="6" name="Content Placeholder 5">
            <a:extLst>
              <a:ext uri="{FF2B5EF4-FFF2-40B4-BE49-F238E27FC236}">
                <a16:creationId xmlns:a16="http://schemas.microsoft.com/office/drawing/2014/main" id="{371364EE-5108-3F63-F386-C7E603C9BF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57200" y="1773500"/>
            <a:ext cx="8229600" cy="417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CDC4AAD2-B9EE-3E28-0884-2010D1FCEB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BDEEBCCA-A70A-7E55-E5BE-44E2CD3EA3A7}"/>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
        <p:nvSpPr>
          <p:cNvPr id="9" name="Content Placeholder 2">
            <a:extLst>
              <a:ext uri="{FF2B5EF4-FFF2-40B4-BE49-F238E27FC236}">
                <a16:creationId xmlns:a16="http://schemas.microsoft.com/office/drawing/2014/main" id="{AE2920BA-D852-8AFE-4EE3-879F8B45319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a:p>
          <a:p>
            <a:pPr fontAlgn="auto">
              <a:spcAft>
                <a:spcPts val="0"/>
              </a:spcAft>
              <a:buFont typeface="Arial" panose="020B0604020202020204" pitchFamily="34" charset="0"/>
              <a:buNone/>
              <a:defRPr/>
            </a:pPr>
            <a:endParaRPr lang="en-US" sz="2800" dirty="0">
              <a:cs typeface="Calibri"/>
            </a:endParaRPr>
          </a:p>
        </p:txBody>
      </p:sp>
      <p:sp>
        <p:nvSpPr>
          <p:cNvPr id="10" name="Footer Placeholder 6">
            <a:extLst>
              <a:ext uri="{FF2B5EF4-FFF2-40B4-BE49-F238E27FC236}">
                <a16:creationId xmlns:a16="http://schemas.microsoft.com/office/drawing/2014/main" id="{3B161D1A-FBB0-BBD2-A4AC-24A5A0EFF4D0}"/>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pic>
        <p:nvPicPr>
          <p:cNvPr id="8" name="Picture 7">
            <a:extLst>
              <a:ext uri="{FF2B5EF4-FFF2-40B4-BE49-F238E27FC236}">
                <a16:creationId xmlns:a16="http://schemas.microsoft.com/office/drawing/2014/main" id="{24B20863-12B8-6517-7D24-F0D01851D1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 y="1271850"/>
            <a:ext cx="8632018" cy="5038462"/>
          </a:xfrm>
          <a:prstGeom prst="rect">
            <a:avLst/>
          </a:prstGeom>
        </p:spPr>
      </p:pic>
    </p:spTree>
    <p:extLst>
      <p:ext uri="{BB962C8B-B14F-4D97-AF65-F5344CB8AC3E}">
        <p14:creationId xmlns:p14="http://schemas.microsoft.com/office/powerpoint/2010/main" val="91049639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Research Paper (Acceptance Proof)</a:t>
            </a:r>
          </a:p>
        </p:txBody>
      </p:sp>
      <p:sp>
        <p:nvSpPr>
          <p:cNvPr id="5" name="Slide Number Placeholder 4"/>
          <p:cNvSpPr>
            <a:spLocks noGrp="1"/>
          </p:cNvSpPr>
          <p:nvPr>
            <p:ph type="sldNum" sz="quarter" idx="12"/>
          </p:nvPr>
        </p:nvSpPr>
        <p:spPr/>
        <p:txBody>
          <a:bodyPr/>
          <a:lstStyle/>
          <a:p>
            <a:fld id="{B6F15528-21DE-4FAA-801E-634DDDAF4B2B}" type="slidenum">
              <a:rPr lang="en-US"/>
              <a:pPr/>
              <a:t>15</a:t>
            </a:fld>
            <a:endParaRPr lang="en-US"/>
          </a:p>
        </p:txBody>
      </p:sp>
      <p:sp>
        <p:nvSpPr>
          <p:cNvPr id="8" name="Content Placeholder 7"/>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
        <p:nvSpPr>
          <p:cNvPr id="10"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a:p>
          <a:p>
            <a:pPr fontAlgn="auto">
              <a:spcAft>
                <a:spcPts val="0"/>
              </a:spcAft>
              <a:buFont typeface="Arial" panose="020B0604020202020204" pitchFamily="34" charset="0"/>
              <a:buNone/>
              <a:defRPr/>
            </a:pPr>
            <a:endParaRPr lang="en-US" sz="2800" dirty="0">
              <a:cs typeface="Calibri"/>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pic>
        <p:nvPicPr>
          <p:cNvPr id="6" name="Picture 5">
            <a:extLst>
              <a:ext uri="{FF2B5EF4-FFF2-40B4-BE49-F238E27FC236}">
                <a16:creationId xmlns:a16="http://schemas.microsoft.com/office/drawing/2014/main" id="{25B06632-0586-A178-D262-20856ED468E9}"/>
              </a:ext>
            </a:extLst>
          </p:cNvPr>
          <p:cNvPicPr>
            <a:picLocks noChangeAspect="1"/>
          </p:cNvPicPr>
          <p:nvPr/>
        </p:nvPicPr>
        <p:blipFill>
          <a:blip r:embed="rId3"/>
          <a:stretch>
            <a:fillRect/>
          </a:stretch>
        </p:blipFill>
        <p:spPr>
          <a:xfrm>
            <a:off x="457200" y="1295399"/>
            <a:ext cx="8382000" cy="5014913"/>
          </a:xfrm>
          <a:prstGeom prst="rect">
            <a:avLst/>
          </a:prstGeom>
        </p:spPr>
      </p:pic>
    </p:spTree>
    <p:extLst>
      <p:ext uri="{BB962C8B-B14F-4D97-AF65-F5344CB8AC3E}">
        <p14:creationId xmlns:p14="http://schemas.microsoft.com/office/powerpoint/2010/main" val="239576142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Conclusion</a:t>
            </a:r>
          </a:p>
        </p:txBody>
      </p:sp>
      <p:sp>
        <p:nvSpPr>
          <p:cNvPr id="5" name="Slide Number Placeholder 4"/>
          <p:cNvSpPr>
            <a:spLocks noGrp="1"/>
          </p:cNvSpPr>
          <p:nvPr>
            <p:ph type="sldNum" sz="quarter" idx="12"/>
          </p:nvPr>
        </p:nvSpPr>
        <p:spPr/>
        <p:txBody>
          <a:bodyPr/>
          <a:lstStyle/>
          <a:p>
            <a:fld id="{B6F15528-21DE-4FAA-801E-634DDDAF4B2B}" type="slidenum">
              <a:rPr lang="en-US"/>
              <a:pPr/>
              <a:t>16</a:t>
            </a:fld>
            <a:endParaRPr lang="en-US"/>
          </a:p>
        </p:txBody>
      </p:sp>
      <p:sp>
        <p:nvSpPr>
          <p:cNvPr id="8" name="Content Placeholder 7"/>
          <p:cNvSpPr>
            <a:spLocks noGrp="1"/>
          </p:cNvSpPr>
          <p:nvPr>
            <p:ph idx="1"/>
          </p:nvPr>
        </p:nvSpPr>
        <p:spPr>
          <a:xfrm>
            <a:off x="228600" y="1219200"/>
            <a:ext cx="8686800" cy="4906963"/>
          </a:xfrm>
        </p:spPr>
        <p:txBody>
          <a:bodyPr/>
          <a:lstStyle/>
          <a:p>
            <a:pPr algn="just"/>
            <a:r>
              <a:rPr lang="en-US" sz="2400" dirty="0">
                <a:latin typeface="Times New Roman" panose="02020603050405020304" pitchFamily="18" charset="0"/>
                <a:cs typeface="Times New Roman" panose="02020603050405020304" pitchFamily="18" charset="0"/>
              </a:rPr>
              <a:t>The project successfully implements a real-time cyberbullying detection system using NLP techniques and SVM, capable of analyzing user-generated content on social media. By combining text preprocessing, feature extraction, sentiment and emotion analysis, and a supervised machine learning model, the system can accurately detect harmful posts while providing explainable results. Deployed as a user-friendly web application, it supports both live and batch processing, offering a practical solution for moderating online communities. Overall, the framework enhances online safety, promotes responsible social media use, and provides a scalable approach for future cyberbullying detection efforts.</a:t>
            </a:r>
          </a:p>
          <a:p>
            <a:pPr algn="just"/>
            <a:endParaRPr lang="en-US" sz="2400" dirty="0"/>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344569294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BDA53F-B02D-4760-90B7-DB325626B21F}"/>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marL="514350" indent="-514350" fontAlgn="auto">
              <a:spcAft>
                <a:spcPts val="0"/>
              </a:spcAft>
              <a:buFont typeface="Arial" panose="020B0604020202020204" pitchFamily="34" charset="0"/>
              <a:buNone/>
              <a:defRPr/>
            </a:pPr>
            <a:endParaRPr lang="en-US" sz="3600" b="1" dirty="0"/>
          </a:p>
          <a:p>
            <a:pPr marL="514350" indent="-514350" fontAlgn="auto">
              <a:spcAft>
                <a:spcPts val="0"/>
              </a:spcAft>
              <a:buFont typeface="Arial" panose="020B0604020202020204" pitchFamily="34" charset="0"/>
              <a:buNone/>
              <a:defRPr/>
            </a:pPr>
            <a:endParaRPr lang="en-US" sz="2800" b="1" dirty="0"/>
          </a:p>
          <a:p>
            <a:pPr marL="514350" indent="-514350" fontAlgn="auto">
              <a:spcAft>
                <a:spcPts val="0"/>
              </a:spcAft>
              <a:buFont typeface="Arial" panose="020B0604020202020204" pitchFamily="34" charset="0"/>
              <a:buNone/>
              <a:defRPr/>
            </a:pPr>
            <a:endParaRPr lang="en-US" sz="2800" b="1" dirty="0"/>
          </a:p>
          <a:p>
            <a:pPr marL="514350" indent="-514350" algn="ctr" fontAlgn="auto">
              <a:spcAft>
                <a:spcPts val="0"/>
              </a:spcAft>
              <a:buFont typeface="Arial" panose="020B0604020202020204" pitchFamily="34" charset="0"/>
              <a:buNone/>
              <a:defRPr/>
            </a:pPr>
            <a:endParaRPr lang="en-US" b="1" dirty="0"/>
          </a:p>
          <a:p>
            <a:pPr marL="514350" indent="-514350" algn="ctr" fontAlgn="auto">
              <a:spcAft>
                <a:spcPts val="0"/>
              </a:spcAft>
              <a:buFont typeface="Arial" panose="020B0604020202020204" pitchFamily="34" charset="0"/>
              <a:buNone/>
              <a:defRPr/>
            </a:pPr>
            <a:r>
              <a:rPr lang="en-US" sz="4400" b="1" dirty="0"/>
              <a:t>Thank You</a:t>
            </a:r>
          </a:p>
          <a:p>
            <a:pPr marL="514350" indent="-514350" fontAlgn="auto">
              <a:spcAft>
                <a:spcPts val="0"/>
              </a:spcAft>
              <a:buFont typeface="Arial" panose="020B0604020202020204" pitchFamily="34" charset="0"/>
              <a:buNone/>
              <a:defRPr/>
            </a:pPr>
            <a:endParaRPr lang="en-US" sz="2800" b="1" dirty="0"/>
          </a:p>
        </p:txBody>
      </p:sp>
      <p:sp>
        <p:nvSpPr>
          <p:cNvPr id="5" name="Slide Number Placeholder 4">
            <a:extLst>
              <a:ext uri="{FF2B5EF4-FFF2-40B4-BE49-F238E27FC236}">
                <a16:creationId xmlns:a16="http://schemas.microsoft.com/office/drawing/2014/main" id="{899BB240-5782-410E-A3EF-F343719E425C}"/>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18D7D88-921A-4D31-AE25-21776C2970CA}" type="slidenum">
              <a:rPr lang="en-US" altLang="en-US" dirty="0">
                <a:solidFill>
                  <a:srgbClr val="898989"/>
                </a:solidFill>
              </a:rPr>
              <a:pPr/>
              <a:t>17</a:t>
            </a:fld>
            <a:endParaRPr lang="en-US" altLang="en-US" dirty="0">
              <a:solidFill>
                <a:srgbClr val="898989"/>
              </a:solidFill>
            </a:endParaRPr>
          </a:p>
        </p:txBody>
      </p:sp>
      <p:pic>
        <p:nvPicPr>
          <p:cNvPr id="2" name="Picture 1">
            <a:extLst>
              <a:ext uri="{FF2B5EF4-FFF2-40B4-BE49-F238E27FC236}">
                <a16:creationId xmlns:a16="http://schemas.microsoft.com/office/drawing/2014/main" id="{11BAED27-1BF6-0E39-B7FC-495FE68C4C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1945" y="136525"/>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2749</TotalTime>
  <Words>1193</Words>
  <Application>Microsoft Office PowerPoint</Application>
  <PresentationFormat>On-screen Show (4:3)</PresentationFormat>
  <Paragraphs>165</Paragraphs>
  <Slides>17</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Arial,Sans-Serif</vt:lpstr>
      <vt:lpstr>Calibri</vt:lpstr>
      <vt:lpstr>Times New Roman</vt:lpstr>
      <vt:lpstr>Office Theme</vt:lpstr>
      <vt:lpstr>    DEPARTMENT OF COMPUTER SCIENCE AND ENGINEERING  </vt:lpstr>
      <vt:lpstr>Mini Project Outlines</vt:lpstr>
      <vt:lpstr>Introduction</vt:lpstr>
      <vt:lpstr>Existing System Vs Proposed </vt:lpstr>
      <vt:lpstr>Research Gaps</vt:lpstr>
      <vt:lpstr>Problem Statement</vt:lpstr>
      <vt:lpstr>Proposed Project Objectives</vt:lpstr>
      <vt:lpstr>Proposed Project Outcomes</vt:lpstr>
      <vt:lpstr>Software and Hardware Requirements</vt:lpstr>
      <vt:lpstr>Architectural Diagram</vt:lpstr>
      <vt:lpstr>PROPOSED METHOD AND ALGORITHMS</vt:lpstr>
      <vt:lpstr>PROPOSED METHOD AND ALGORITHMS</vt:lpstr>
      <vt:lpstr>Results</vt:lpstr>
      <vt:lpstr>Results</vt:lpstr>
      <vt:lpstr>Research Paper (Acceptance Proof)</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Venu Gopal Sakkera</dc:creator>
  <cp:lastModifiedBy>pola rishitha</cp:lastModifiedBy>
  <cp:revision>529</cp:revision>
  <dcterms:created xsi:type="dcterms:W3CDTF">2006-08-16T00:00:00Z</dcterms:created>
  <dcterms:modified xsi:type="dcterms:W3CDTF">2026-06-06T14:05:19Z</dcterms:modified>
</cp:coreProperties>
</file>